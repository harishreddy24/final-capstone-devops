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84" d="100"/>
          <a:sy n="84" d="100"/>
        </p:scale>
        <p:origin x="629" y="7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10/27/2026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10/27/2026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10/27/2026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C1C3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/>
          <p:cNvSpPr/>
          <p:nvPr/>
        </p:nvSpPr>
        <p:spPr>
          <a:xfrm>
            <a:off x="9509760" y="640080"/>
            <a:ext cx="2011680" cy="2011680"/>
          </a:xfrm>
          <a:prstGeom prst="ellipse">
            <a:avLst/>
          </a:prstGeom>
          <a:solidFill>
            <a:srgbClr val="142B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/>
          <p:cNvSpPr/>
          <p:nvPr/>
        </p:nvSpPr>
        <p:spPr>
          <a:xfrm>
            <a:off x="10241280" y="2011680"/>
            <a:ext cx="1234440" cy="1234440"/>
          </a:xfrm>
          <a:prstGeom prst="ellipse">
            <a:avLst/>
          </a:prstGeom>
          <a:solidFill>
            <a:srgbClr val="2A71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Oval 3"/>
          <p:cNvSpPr/>
          <p:nvPr/>
        </p:nvSpPr>
        <p:spPr>
          <a:xfrm>
            <a:off x="8778240" y="3200400"/>
            <a:ext cx="658368" cy="658368"/>
          </a:xfrm>
          <a:prstGeom prst="ellipse">
            <a:avLst/>
          </a:prstGeom>
          <a:solidFill>
            <a:srgbClr val="30BE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Oval 4"/>
          <p:cNvSpPr/>
          <p:nvPr/>
        </p:nvSpPr>
        <p:spPr>
          <a:xfrm>
            <a:off x="10607040" y="3749039"/>
            <a:ext cx="384048" cy="384048"/>
          </a:xfrm>
          <a:prstGeom prst="ellipse">
            <a:avLst/>
          </a:prstGeom>
          <a:solidFill>
            <a:srgbClr val="2A9B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731520" y="868680"/>
            <a:ext cx="685800" cy="73152"/>
          </a:xfrm>
          <a:prstGeom prst="rect">
            <a:avLst/>
          </a:prstGeom>
          <a:solidFill>
            <a:srgbClr val="30BECD"/>
          </a:solidFill>
          <a:ln>
            <a:solidFill>
              <a:srgbClr val="30BE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31520" y="1234440"/>
            <a:ext cx="7680960" cy="5029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  <a:defRPr sz="1700" b="1" i="0">
                <a:solidFill>
                  <a:srgbClr val="30BECD"/>
                </a:solidFill>
                <a:latin typeface="Aptos"/>
              </a:defRPr>
            </a:pPr>
            <a:r>
              <a:t>DEVOPS FINAL CAPSTONE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1828800"/>
            <a:ext cx="7772400" cy="109728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  <a:defRPr sz="4400" b="1" i="0">
                <a:solidFill>
                  <a:srgbClr val="FFFFFF"/>
                </a:solidFill>
                <a:latin typeface="Aptos"/>
              </a:defRPr>
            </a:pPr>
            <a:r>
              <a:t>ResolveHub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-146304" y="3035808"/>
            <a:ext cx="6949440" cy="82296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  <a:defRPr sz="2300" b="0" i="0">
                <a:solidFill>
                  <a:srgbClr val="D3E1EF"/>
                </a:solidFill>
                <a:latin typeface="Aptos"/>
              </a:defRPr>
            </a:pPr>
            <a:r>
              <a:rPr dirty="0"/>
              <a:t>Helpdesk &amp; Support Ticket Management System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4160520"/>
            <a:ext cx="7040880" cy="65836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  <a:defRPr sz="1600" b="0" i="0">
                <a:solidFill>
                  <a:srgbClr val="ADC3D7"/>
                </a:solidFill>
                <a:latin typeface="Aptos"/>
              </a:defRPr>
            </a:pPr>
            <a:r>
              <a:t>From application code to automated delivery, cloud infrastructure and observability.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5989320"/>
            <a:ext cx="6126480" cy="2743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  <a:defRPr sz="1200" b="0" i="0">
                <a:solidFill>
                  <a:srgbClr val="ADC3D7"/>
                </a:solidFill>
                <a:latin typeface="Aptos"/>
              </a:defRPr>
            </a:pPr>
            <a:r>
              <a:t>Project presentation  •  Session 21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469880" y="6172200"/>
            <a:ext cx="1005840" cy="22860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r">
              <a:spcAft>
                <a:spcPts val="0"/>
              </a:spcAft>
              <a:defRPr sz="1200" b="1" i="0">
                <a:solidFill>
                  <a:srgbClr val="30BECD"/>
                </a:solidFill>
                <a:latin typeface="Aptos"/>
              </a:defRPr>
            </a:pPr>
            <a: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EF5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20040"/>
            <a:ext cx="10972800" cy="5029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  <a:defRPr sz="2700" b="1" i="0">
                <a:solidFill>
                  <a:srgbClr val="0C1C34"/>
                </a:solidFill>
                <a:latin typeface="Aptos"/>
              </a:defRPr>
            </a:pPr>
            <a:r>
              <a:t>Problem statement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868680"/>
            <a:ext cx="10881360" cy="34747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  <a:defRPr sz="1200" b="0" i="0">
                <a:solidFill>
                  <a:srgbClr val="607385"/>
                </a:solidFill>
                <a:latin typeface="Aptos"/>
              </a:defRPr>
            </a:pPr>
            <a:r>
              <a:t>Why a support-ticket application is a useful DevOps capstone</a:t>
            </a:r>
          </a:p>
        </p:txBody>
      </p:sp>
      <p:sp>
        <p:nvSpPr>
          <p:cNvPr id="4" name="Rectangle 3"/>
          <p:cNvSpPr/>
          <p:nvPr/>
        </p:nvSpPr>
        <p:spPr>
          <a:xfrm>
            <a:off x="621792" y="1298448"/>
            <a:ext cx="713232" cy="50292"/>
          </a:xfrm>
          <a:prstGeom prst="rect">
            <a:avLst/>
          </a:prstGeom>
          <a:solidFill>
            <a:srgbClr val="30BECD"/>
          </a:solidFill>
          <a:ln>
            <a:solidFill>
              <a:srgbClr val="30BE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1201400" y="6510528"/>
            <a:ext cx="411480" cy="16459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r">
              <a:spcAft>
                <a:spcPts val="0"/>
              </a:spcAft>
              <a:defRPr sz="900" b="0" i="0">
                <a:solidFill>
                  <a:srgbClr val="607385"/>
                </a:solidFill>
                <a:latin typeface="Aptos"/>
              </a:defRPr>
            </a:pPr>
            <a:r>
              <a:t>02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1645920"/>
            <a:ext cx="3429000" cy="18288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685800" y="1645920"/>
            <a:ext cx="64008" cy="1828800"/>
          </a:xfrm>
          <a:prstGeom prst="rect">
            <a:avLst/>
          </a:prstGeom>
          <a:solidFill>
            <a:srgbClr val="2A71BE"/>
          </a:solidFill>
          <a:ln>
            <a:solidFill>
              <a:srgbClr val="2A71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86968" y="1810512"/>
            <a:ext cx="3081528" cy="329184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  <a:defRPr sz="1700" b="1" i="0">
                <a:solidFill>
                  <a:srgbClr val="0C1C34"/>
                </a:solidFill>
                <a:latin typeface="Aptos"/>
              </a:defRPr>
            </a:pPr>
            <a:r>
              <a:t>Scattered requests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6968" y="2240280"/>
            <a:ext cx="3063240" cy="1133856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  <a:defRPr sz="1300" b="0" i="0">
                <a:solidFill>
                  <a:srgbClr val="607385"/>
                </a:solidFill>
                <a:latin typeface="Aptos"/>
              </a:defRPr>
            </a:pPr>
            <a:r>
              <a:t>Support requests can be difficult to prioritize, track and update consistently.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89120" y="1645920"/>
            <a:ext cx="3429000" cy="18288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4389120" y="1645920"/>
            <a:ext cx="64008" cy="1828800"/>
          </a:xfrm>
          <a:prstGeom prst="rect">
            <a:avLst/>
          </a:prstGeom>
          <a:solidFill>
            <a:srgbClr val="30BECD"/>
          </a:solidFill>
          <a:ln>
            <a:solidFill>
              <a:srgbClr val="30BE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590288" y="1810512"/>
            <a:ext cx="3081528" cy="329184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  <a:defRPr sz="1700" b="1" i="0">
                <a:solidFill>
                  <a:srgbClr val="0C1C34"/>
                </a:solidFill>
                <a:latin typeface="Aptos"/>
              </a:defRPr>
            </a:pPr>
            <a:r>
              <a:t>Limited visibility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90288" y="2240280"/>
            <a:ext cx="3063240" cy="1133856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  <a:defRPr sz="1300" b="0" i="0">
                <a:solidFill>
                  <a:srgbClr val="607385"/>
                </a:solidFill>
                <a:latin typeface="Aptos"/>
              </a:defRPr>
            </a:pPr>
            <a:r>
              <a:t>Teams need a clear view of ticket status, urgency and workload.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92440" y="1645920"/>
            <a:ext cx="3429000" cy="18288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8092440" y="1645920"/>
            <a:ext cx="64008" cy="1828800"/>
          </a:xfrm>
          <a:prstGeom prst="rect">
            <a:avLst/>
          </a:prstGeom>
          <a:solidFill>
            <a:srgbClr val="E19B31"/>
          </a:solidFill>
          <a:ln>
            <a:solidFill>
              <a:srgbClr val="E19B3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8293608" y="1810512"/>
            <a:ext cx="3081528" cy="329184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  <a:defRPr sz="1700" b="1" i="0">
                <a:solidFill>
                  <a:srgbClr val="0C1C34"/>
                </a:solidFill>
                <a:latin typeface="Aptos"/>
              </a:defRPr>
            </a:pPr>
            <a:r>
              <a:t>Operational risk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93608" y="2240280"/>
            <a:ext cx="3063240" cy="1133856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  <a:defRPr sz="1300" b="0" i="0">
                <a:solidFill>
                  <a:srgbClr val="607385"/>
                </a:solidFill>
                <a:latin typeface="Aptos"/>
              </a:defRPr>
            </a:pPr>
            <a:r>
              <a:t>Manual releases and weak monitoring make failures harder to detect and recover from.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2960" y="4069080"/>
            <a:ext cx="10515600" cy="36576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  <a:defRPr sz="1800" b="1" i="0">
                <a:solidFill>
                  <a:srgbClr val="0C1C34"/>
                </a:solidFill>
                <a:latin typeface="Aptos"/>
              </a:defRPr>
            </a:pPr>
            <a:r>
              <a:t>Project goal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2960" y="4526280"/>
            <a:ext cx="10424160" cy="100584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  <a:defRPr sz="2300" b="1" i="0">
                <a:solidFill>
                  <a:srgbClr val="223142"/>
                </a:solidFill>
                <a:latin typeface="Aptos"/>
              </a:defRPr>
            </a:pPr>
            <a:r>
              <a:t>Build a working full-stack application and demonstrate a repeatable path for testing, packaging, securing, deploying and monitoring it.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EF5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20040"/>
            <a:ext cx="10972800" cy="5029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  <a:defRPr sz="2700" b="1" i="0">
                <a:solidFill>
                  <a:srgbClr val="0C1C34"/>
                </a:solidFill>
                <a:latin typeface="Aptos"/>
              </a:defRPr>
            </a:pPr>
            <a:r>
              <a:t>Solution 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868680"/>
            <a:ext cx="10881360" cy="34747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  <a:defRPr sz="1200" b="0" i="0">
                <a:solidFill>
                  <a:srgbClr val="607385"/>
                </a:solidFill>
                <a:latin typeface="Aptos"/>
              </a:defRPr>
            </a:pPr>
            <a:r>
              <a:t>ResolveHub combines a usable support workflow with production-style engineering practices</a:t>
            </a:r>
          </a:p>
        </p:txBody>
      </p:sp>
      <p:sp>
        <p:nvSpPr>
          <p:cNvPr id="4" name="Rectangle 3"/>
          <p:cNvSpPr/>
          <p:nvPr/>
        </p:nvSpPr>
        <p:spPr>
          <a:xfrm>
            <a:off x="621792" y="1298448"/>
            <a:ext cx="713232" cy="50292"/>
          </a:xfrm>
          <a:prstGeom prst="rect">
            <a:avLst/>
          </a:prstGeom>
          <a:solidFill>
            <a:srgbClr val="30BECD"/>
          </a:solidFill>
          <a:ln>
            <a:solidFill>
              <a:srgbClr val="30BE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1201400" y="6510528"/>
            <a:ext cx="411480" cy="16459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r">
              <a:spcAft>
                <a:spcPts val="0"/>
              </a:spcAft>
              <a:defRPr sz="900" b="0" i="0">
                <a:solidFill>
                  <a:srgbClr val="607385"/>
                </a:solidFill>
                <a:latin typeface="Aptos"/>
              </a:defRPr>
            </a:pPr>
            <a:r>
              <a:t>03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77240" y="1572768"/>
            <a:ext cx="502920" cy="502920"/>
          </a:xfrm>
          <a:prstGeom prst="roundRect">
            <a:avLst>
              <a:gd name="adj" fmla="val 12000"/>
            </a:avLst>
          </a:prstGeom>
          <a:solidFill>
            <a:srgbClr val="142B49"/>
          </a:solidFill>
          <a:ln>
            <a:solidFill>
              <a:srgbClr val="142B4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77240" y="1609344"/>
            <a:ext cx="502920" cy="32004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>
              <a:spcAft>
                <a:spcPts val="0"/>
              </a:spcAft>
              <a:defRPr sz="1400" b="1" i="0">
                <a:solidFill>
                  <a:srgbClr val="30BECD"/>
                </a:solidFill>
                <a:latin typeface="Aptos"/>
              </a:defRPr>
            </a:pPr>
            <a: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508760" y="1563624"/>
            <a:ext cx="2743200" cy="310896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  <a:defRPr sz="1700" b="1" i="0">
                <a:solidFill>
                  <a:srgbClr val="0C1C34"/>
                </a:solidFill>
                <a:latin typeface="Aptos"/>
              </a:defRPr>
            </a:pPr>
            <a:r>
              <a:t>Ticket workflow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60520" y="1563624"/>
            <a:ext cx="7040880" cy="47548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  <a:defRPr sz="1500" b="0" i="0">
                <a:solidFill>
                  <a:srgbClr val="607385"/>
                </a:solidFill>
                <a:latin typeface="Aptos"/>
              </a:defRPr>
            </a:pPr>
            <a:r>
              <a:t>Create, view, update and delete support tickets.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77240" y="2414016"/>
            <a:ext cx="502920" cy="502920"/>
          </a:xfrm>
          <a:prstGeom prst="roundRect">
            <a:avLst>
              <a:gd name="adj" fmla="val 12000"/>
            </a:avLst>
          </a:prstGeom>
          <a:solidFill>
            <a:srgbClr val="142B49"/>
          </a:solidFill>
          <a:ln>
            <a:solidFill>
              <a:srgbClr val="142B4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777240" y="2450592"/>
            <a:ext cx="502920" cy="32004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>
              <a:spcAft>
                <a:spcPts val="0"/>
              </a:spcAft>
              <a:defRPr sz="1400" b="1" i="0">
                <a:solidFill>
                  <a:srgbClr val="30BECD"/>
                </a:solidFill>
                <a:latin typeface="Aptos"/>
              </a:defRPr>
            </a:pPr>
            <a:r>
              <a:t>02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08760" y="2404872"/>
            <a:ext cx="2743200" cy="310896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  <a:defRPr sz="1700" b="1" i="0">
                <a:solidFill>
                  <a:srgbClr val="0C1C34"/>
                </a:solidFill>
                <a:latin typeface="Aptos"/>
              </a:defRPr>
            </a:pPr>
            <a:r>
              <a:t>API-first backend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160520" y="2404872"/>
            <a:ext cx="7040880" cy="47548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  <a:defRPr sz="1500" b="0" i="0">
                <a:solidFill>
                  <a:srgbClr val="607385"/>
                </a:solidFill>
                <a:latin typeface="Aptos"/>
              </a:defRPr>
            </a:pPr>
            <a:r>
              <a:t>FastAPI REST endpoints with validation and health checks.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77240" y="3255264"/>
            <a:ext cx="502920" cy="502920"/>
          </a:xfrm>
          <a:prstGeom prst="roundRect">
            <a:avLst>
              <a:gd name="adj" fmla="val 12000"/>
            </a:avLst>
          </a:prstGeom>
          <a:solidFill>
            <a:srgbClr val="142B49"/>
          </a:solidFill>
          <a:ln>
            <a:solidFill>
              <a:srgbClr val="142B4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777240" y="3291840"/>
            <a:ext cx="502920" cy="32004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>
              <a:spcAft>
                <a:spcPts val="0"/>
              </a:spcAft>
              <a:defRPr sz="1400" b="1" i="0">
                <a:solidFill>
                  <a:srgbClr val="30BECD"/>
                </a:solidFill>
                <a:latin typeface="Aptos"/>
              </a:defRPr>
            </a:pPr>
            <a:r>
              <a:t>03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508760" y="3246120"/>
            <a:ext cx="2743200" cy="310896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  <a:defRPr sz="1700" b="1" i="0">
                <a:solidFill>
                  <a:srgbClr val="0C1C34"/>
                </a:solidFill>
                <a:latin typeface="Aptos"/>
              </a:defRPr>
            </a:pPr>
            <a:r>
              <a:t>Persistent data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160520" y="3246120"/>
            <a:ext cx="7040880" cy="47548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  <a:defRPr sz="1500" b="0" i="0">
                <a:solidFill>
                  <a:srgbClr val="607385"/>
                </a:solidFill>
                <a:latin typeface="Aptos"/>
              </a:defRPr>
            </a:pPr>
            <a:r>
              <a:t>PostgreSQL storage managed through SQLAlchemy and Alembic.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77240" y="4096512"/>
            <a:ext cx="502920" cy="502920"/>
          </a:xfrm>
          <a:prstGeom prst="roundRect">
            <a:avLst>
              <a:gd name="adj" fmla="val 12000"/>
            </a:avLst>
          </a:prstGeom>
          <a:solidFill>
            <a:srgbClr val="142B49"/>
          </a:solidFill>
          <a:ln>
            <a:solidFill>
              <a:srgbClr val="142B4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777240" y="4133088"/>
            <a:ext cx="502920" cy="32004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>
              <a:spcAft>
                <a:spcPts val="0"/>
              </a:spcAft>
              <a:defRPr sz="1400" b="1" i="0">
                <a:solidFill>
                  <a:srgbClr val="30BECD"/>
                </a:solidFill>
                <a:latin typeface="Aptos"/>
              </a:defRPr>
            </a:pPr>
            <a:r>
              <a:t>04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508760" y="4087368"/>
            <a:ext cx="2743200" cy="310896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  <a:defRPr sz="1700" b="1" i="0">
                <a:solidFill>
                  <a:srgbClr val="0C1C34"/>
                </a:solidFill>
                <a:latin typeface="Aptos"/>
              </a:defRPr>
            </a:pPr>
            <a:r>
              <a:t>Automated delivery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160520" y="4087368"/>
            <a:ext cx="7040880" cy="47548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  <a:defRPr sz="1500" b="0" i="0">
                <a:solidFill>
                  <a:srgbClr val="607385"/>
                </a:solidFill>
                <a:latin typeface="Aptos"/>
              </a:defRPr>
            </a:pPr>
            <a:r>
              <a:t>GitHub Actions tests and builds container images.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77240" y="4937760"/>
            <a:ext cx="502920" cy="502920"/>
          </a:xfrm>
          <a:prstGeom prst="roundRect">
            <a:avLst>
              <a:gd name="adj" fmla="val 12000"/>
            </a:avLst>
          </a:prstGeom>
          <a:solidFill>
            <a:srgbClr val="142B49"/>
          </a:solidFill>
          <a:ln>
            <a:solidFill>
              <a:srgbClr val="142B4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777240" y="4974336"/>
            <a:ext cx="502920" cy="32004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>
              <a:spcAft>
                <a:spcPts val="0"/>
              </a:spcAft>
              <a:defRPr sz="1400" b="1" i="0">
                <a:solidFill>
                  <a:srgbClr val="30BECD"/>
                </a:solidFill>
                <a:latin typeface="Aptos"/>
              </a:defRPr>
            </a:pPr>
            <a:r>
              <a:t>05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508760" y="4928616"/>
            <a:ext cx="2743200" cy="310896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  <a:defRPr sz="1700" b="1" i="0">
                <a:solidFill>
                  <a:srgbClr val="0C1C34"/>
                </a:solidFill>
                <a:latin typeface="Aptos"/>
              </a:defRPr>
            </a:pPr>
            <a:r>
              <a:t>Cloud-ready operations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160520" y="4928616"/>
            <a:ext cx="7040880" cy="47548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  <a:defRPr sz="1500" b="0" i="0">
                <a:solidFill>
                  <a:srgbClr val="607385"/>
                </a:solidFill>
                <a:latin typeface="Aptos"/>
              </a:defRPr>
            </a:pPr>
            <a:r>
              <a:t>Terraform, Kubernetes, Helm and monitoring configuration.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EF5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20040"/>
            <a:ext cx="10972800" cy="5029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  <a:defRPr sz="2700" b="1" i="0">
                <a:solidFill>
                  <a:srgbClr val="0C1C34"/>
                </a:solidFill>
                <a:latin typeface="Aptos"/>
              </a:defRPr>
            </a:pPr>
            <a:r>
              <a:t>End-to-end architecture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868680"/>
            <a:ext cx="10881360" cy="34747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  <a:defRPr sz="1200" b="0" i="0">
                <a:solidFill>
                  <a:srgbClr val="607385"/>
                </a:solidFill>
                <a:latin typeface="Aptos"/>
              </a:defRPr>
            </a:pPr>
            <a:r>
              <a:t>The pipeline connects source control, containers, infrastructure, runtime and monitoring</a:t>
            </a:r>
          </a:p>
        </p:txBody>
      </p:sp>
      <p:sp>
        <p:nvSpPr>
          <p:cNvPr id="4" name="Rectangle 3"/>
          <p:cNvSpPr/>
          <p:nvPr/>
        </p:nvSpPr>
        <p:spPr>
          <a:xfrm>
            <a:off x="621792" y="1298448"/>
            <a:ext cx="713232" cy="50292"/>
          </a:xfrm>
          <a:prstGeom prst="rect">
            <a:avLst/>
          </a:prstGeom>
          <a:solidFill>
            <a:srgbClr val="30BECD"/>
          </a:solidFill>
          <a:ln>
            <a:solidFill>
              <a:srgbClr val="30BE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1201400" y="6510528"/>
            <a:ext cx="411480" cy="16459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r">
              <a:spcAft>
                <a:spcPts val="0"/>
              </a:spcAft>
              <a:defRPr sz="900" b="0" i="0">
                <a:solidFill>
                  <a:srgbClr val="607385"/>
                </a:solidFill>
                <a:latin typeface="Aptos"/>
              </a:defRPr>
            </a:pPr>
            <a:r>
              <a:t>04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94360" y="1737360"/>
            <a:ext cx="1965960" cy="804672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D7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594360" y="1737360"/>
            <a:ext cx="1965960" cy="82296"/>
          </a:xfrm>
          <a:prstGeom prst="rect">
            <a:avLst/>
          </a:prstGeom>
          <a:solidFill>
            <a:srgbClr val="2A71BE"/>
          </a:solidFill>
          <a:ln>
            <a:solidFill>
              <a:srgbClr val="2A71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04088" y="1920240"/>
            <a:ext cx="1746504" cy="25603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>
              <a:spcAft>
                <a:spcPts val="0"/>
              </a:spcAft>
              <a:defRPr sz="1300" b="1" i="0">
                <a:solidFill>
                  <a:srgbClr val="0C1C34"/>
                </a:solidFill>
                <a:latin typeface="Aptos"/>
              </a:defRPr>
            </a:pPr>
            <a:r>
              <a:t>Developer + GitHub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2212848"/>
            <a:ext cx="1783080" cy="20116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>
              <a:spcAft>
                <a:spcPts val="0"/>
              </a:spcAft>
              <a:defRPr sz="1000" b="0" i="0">
                <a:solidFill>
                  <a:srgbClr val="607385"/>
                </a:solidFill>
                <a:latin typeface="Aptos"/>
              </a:defRPr>
            </a:pPr>
            <a:r>
              <a:t>Source &amp; commits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971800" y="1737360"/>
            <a:ext cx="1965960" cy="804672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D7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2971800" y="1737360"/>
            <a:ext cx="1965960" cy="82296"/>
          </a:xfrm>
          <a:prstGeom prst="rect">
            <a:avLst/>
          </a:prstGeom>
          <a:solidFill>
            <a:srgbClr val="30BECD"/>
          </a:solidFill>
          <a:ln>
            <a:solidFill>
              <a:srgbClr val="30BE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3081528" y="1920240"/>
            <a:ext cx="1746504" cy="25603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>
              <a:spcAft>
                <a:spcPts val="0"/>
              </a:spcAft>
              <a:defRPr sz="1300" b="1" i="0">
                <a:solidFill>
                  <a:srgbClr val="0C1C34"/>
                </a:solidFill>
                <a:latin typeface="Aptos"/>
              </a:defRPr>
            </a:pPr>
            <a:r>
              <a:t>GitHub Actions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063240" y="2212848"/>
            <a:ext cx="1783080" cy="20116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>
              <a:spcAft>
                <a:spcPts val="0"/>
              </a:spcAft>
              <a:defRPr sz="1000" b="0" i="0">
                <a:solidFill>
                  <a:srgbClr val="607385"/>
                </a:solidFill>
                <a:latin typeface="Aptos"/>
              </a:defRPr>
            </a:pPr>
            <a:r>
              <a:t>Test • Build • Scan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349240" y="1737360"/>
            <a:ext cx="1965960" cy="804672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D7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5349240" y="1737360"/>
            <a:ext cx="1965960" cy="82296"/>
          </a:xfrm>
          <a:prstGeom prst="rect">
            <a:avLst/>
          </a:prstGeom>
          <a:solidFill>
            <a:srgbClr val="2A9B73"/>
          </a:solidFill>
          <a:ln>
            <a:solidFill>
              <a:srgbClr val="2A9B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5458968" y="1920240"/>
            <a:ext cx="1746504" cy="25603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>
              <a:spcAft>
                <a:spcPts val="0"/>
              </a:spcAft>
              <a:defRPr sz="1300" b="1" i="0">
                <a:solidFill>
                  <a:srgbClr val="0C1C34"/>
                </a:solidFill>
                <a:latin typeface="Aptos"/>
              </a:defRPr>
            </a:pPr>
            <a:r>
              <a:t>GHCR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40679" y="2212848"/>
            <a:ext cx="1783080" cy="20116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>
              <a:spcAft>
                <a:spcPts val="0"/>
              </a:spcAft>
              <a:defRPr sz="1000" b="0" i="0">
                <a:solidFill>
                  <a:srgbClr val="607385"/>
                </a:solidFill>
                <a:latin typeface="Aptos"/>
              </a:defRPr>
            </a:pPr>
            <a:r>
              <a:t>Versioned images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726679" y="1737360"/>
            <a:ext cx="1965960" cy="804672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D7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7726679" y="1737360"/>
            <a:ext cx="1965960" cy="82296"/>
          </a:xfrm>
          <a:prstGeom prst="rect">
            <a:avLst/>
          </a:prstGeom>
          <a:solidFill>
            <a:srgbClr val="2A71BE"/>
          </a:solidFill>
          <a:ln>
            <a:solidFill>
              <a:srgbClr val="2A71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7836407" y="1920240"/>
            <a:ext cx="1746504" cy="25603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>
              <a:spcAft>
                <a:spcPts val="0"/>
              </a:spcAft>
              <a:defRPr sz="1300" b="1" i="0">
                <a:solidFill>
                  <a:srgbClr val="0C1C34"/>
                </a:solidFill>
                <a:latin typeface="Aptos"/>
              </a:defRPr>
            </a:pPr>
            <a:r>
              <a:t>Terraform + AWS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818119" y="2212848"/>
            <a:ext cx="1783080" cy="20116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>
              <a:spcAft>
                <a:spcPts val="0"/>
              </a:spcAft>
              <a:defRPr sz="1000" b="0" i="0">
                <a:solidFill>
                  <a:srgbClr val="607385"/>
                </a:solidFill>
                <a:latin typeface="Aptos"/>
              </a:defRPr>
            </a:pPr>
            <a:r>
              <a:t>VPC • EKS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10012680" y="1737360"/>
            <a:ext cx="1600200" cy="804672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D7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10012680" y="1737360"/>
            <a:ext cx="1600200" cy="82296"/>
          </a:xfrm>
          <a:prstGeom prst="rect">
            <a:avLst/>
          </a:prstGeom>
          <a:solidFill>
            <a:srgbClr val="30BECD"/>
          </a:solidFill>
          <a:ln>
            <a:solidFill>
              <a:srgbClr val="30BE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10122407" y="1920240"/>
            <a:ext cx="1380744" cy="25603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>
              <a:spcAft>
                <a:spcPts val="0"/>
              </a:spcAft>
              <a:defRPr sz="1300" b="1" i="0">
                <a:solidFill>
                  <a:srgbClr val="0C1C34"/>
                </a:solidFill>
                <a:latin typeface="Aptos"/>
              </a:defRPr>
            </a:pPr>
            <a:r>
              <a:t>Helm / K8s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104119" y="2212848"/>
            <a:ext cx="1417320" cy="20116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>
              <a:spcAft>
                <a:spcPts val="0"/>
              </a:spcAft>
              <a:defRPr sz="1000" b="0" i="0">
                <a:solidFill>
                  <a:srgbClr val="607385"/>
                </a:solidFill>
                <a:latin typeface="Aptos"/>
              </a:defRPr>
            </a:pPr>
            <a:r>
              <a:t>Deploy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2560320" y="2139696"/>
            <a:ext cx="411480" cy="0"/>
          </a:xfrm>
          <a:prstGeom prst="line">
            <a:avLst/>
          </a:prstGeom>
          <a:ln w="25400">
            <a:solidFill>
              <a:srgbClr val="30BEC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>
            <a:off x="4937760" y="2139696"/>
            <a:ext cx="411480" cy="0"/>
          </a:xfrm>
          <a:prstGeom prst="line">
            <a:avLst/>
          </a:prstGeom>
          <a:ln w="25400">
            <a:solidFill>
              <a:srgbClr val="30BEC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>
            <a:off x="7315200" y="2139696"/>
            <a:ext cx="411479" cy="0"/>
          </a:xfrm>
          <a:prstGeom prst="line">
            <a:avLst/>
          </a:prstGeom>
          <a:ln w="25400">
            <a:solidFill>
              <a:srgbClr val="30BEC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>
            <a:off x="9692640" y="2139696"/>
            <a:ext cx="320040" cy="0"/>
          </a:xfrm>
          <a:prstGeom prst="line">
            <a:avLst/>
          </a:prstGeom>
          <a:ln w="25400">
            <a:solidFill>
              <a:srgbClr val="30BEC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Rounded Rectangle 29"/>
          <p:cNvSpPr/>
          <p:nvPr/>
        </p:nvSpPr>
        <p:spPr>
          <a:xfrm>
            <a:off x="1051560" y="3337560"/>
            <a:ext cx="4434840" cy="1417320"/>
          </a:xfrm>
          <a:prstGeom prst="roundRect">
            <a:avLst>
              <a:gd name="adj" fmla="val 12000"/>
            </a:avLst>
          </a:prstGeom>
          <a:solidFill>
            <a:srgbClr val="142B49"/>
          </a:solidFill>
          <a:ln>
            <a:solidFill>
              <a:srgbClr val="142B4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1280160" y="3547872"/>
            <a:ext cx="3977639" cy="29260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>
              <a:spcAft>
                <a:spcPts val="0"/>
              </a:spcAft>
              <a:defRPr sz="1800" b="1" i="0">
                <a:solidFill>
                  <a:srgbClr val="FFFFFF"/>
                </a:solidFill>
                <a:latin typeface="Aptos"/>
              </a:defRPr>
            </a:pPr>
            <a:r>
              <a:t>Application runtime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280160" y="3977639"/>
            <a:ext cx="3977639" cy="5029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>
              <a:spcAft>
                <a:spcPts val="0"/>
              </a:spcAft>
              <a:defRPr sz="1400" b="0" i="0">
                <a:solidFill>
                  <a:srgbClr val="CEE0F0"/>
                </a:solidFill>
                <a:latin typeface="Aptos"/>
              </a:defRPr>
            </a:pPr>
            <a:r>
              <a:t>React + Nginx  →  FastAPI  →  PostgreSQL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6400800" y="3337560"/>
            <a:ext cx="4434840" cy="1417320"/>
          </a:xfrm>
          <a:prstGeom prst="roundRect">
            <a:avLst>
              <a:gd name="adj" fmla="val 12000"/>
            </a:avLst>
          </a:prstGeom>
          <a:solidFill>
            <a:srgbClr val="142B49"/>
          </a:solidFill>
          <a:ln>
            <a:solidFill>
              <a:srgbClr val="142B4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6629400" y="3547872"/>
            <a:ext cx="3977639" cy="29260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>
              <a:spcAft>
                <a:spcPts val="0"/>
              </a:spcAft>
              <a:defRPr sz="1800" b="1" i="0">
                <a:solidFill>
                  <a:srgbClr val="FFFFFF"/>
                </a:solidFill>
                <a:latin typeface="Aptos"/>
              </a:defRPr>
            </a:pPr>
            <a:r>
              <a:t>Observability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629400" y="3977639"/>
            <a:ext cx="3977639" cy="5029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>
              <a:spcAft>
                <a:spcPts val="0"/>
              </a:spcAft>
              <a:defRPr sz="1400" b="0" i="0">
                <a:solidFill>
                  <a:srgbClr val="CEE0F0"/>
                </a:solidFill>
                <a:latin typeface="Aptos"/>
              </a:defRPr>
            </a:pPr>
            <a:r>
              <a:t>Prometheus scrapes metrics  •  Grafana visualizes</a:t>
            </a:r>
          </a:p>
        </p:txBody>
      </p:sp>
      <p:cxnSp>
        <p:nvCxnSpPr>
          <p:cNvPr id="36" name="Connector 35"/>
          <p:cNvCxnSpPr/>
          <p:nvPr/>
        </p:nvCxnSpPr>
        <p:spPr>
          <a:xfrm flipH="1">
            <a:off x="9966960" y="2606040"/>
            <a:ext cx="822960" cy="640080"/>
          </a:xfrm>
          <a:prstGeom prst="line">
            <a:avLst/>
          </a:prstGeom>
          <a:ln w="25400">
            <a:solidFill>
              <a:srgbClr val="30BEC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Connector 36"/>
          <p:cNvCxnSpPr/>
          <p:nvPr/>
        </p:nvCxnSpPr>
        <p:spPr>
          <a:xfrm>
            <a:off x="5486400" y="4041648"/>
            <a:ext cx="822960" cy="0"/>
          </a:xfrm>
          <a:prstGeom prst="line">
            <a:avLst/>
          </a:prstGeom>
          <a:ln w="25400">
            <a:solidFill>
              <a:srgbClr val="30BEC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" name="TextBox 37"/>
          <p:cNvSpPr txBox="1"/>
          <p:nvPr/>
        </p:nvSpPr>
        <p:spPr>
          <a:xfrm>
            <a:off x="1097280" y="5349240"/>
            <a:ext cx="9966960" cy="5029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>
              <a:spcAft>
                <a:spcPts val="0"/>
              </a:spcAft>
              <a:defRPr sz="1700" b="1" i="0">
                <a:solidFill>
                  <a:srgbClr val="0C1C34"/>
                </a:solidFill>
                <a:latin typeface="Aptos"/>
              </a:defRPr>
            </a:pPr>
            <a:r>
              <a:t>Design principle: each stage should be repeatable, observable and traceable to a source-code revision.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EF5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20040"/>
            <a:ext cx="10972800" cy="5029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  <a:defRPr sz="2700" b="1" i="0">
                <a:solidFill>
                  <a:srgbClr val="0C1C34"/>
                </a:solidFill>
                <a:latin typeface="Aptos"/>
              </a:defRPr>
            </a:pPr>
            <a:r>
              <a:t>Technology stack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868680"/>
            <a:ext cx="10881360" cy="34747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  <a:defRPr sz="1200" b="0" i="0">
                <a:solidFill>
                  <a:srgbClr val="607385"/>
                </a:solidFill>
                <a:latin typeface="Aptos"/>
              </a:defRPr>
            </a:pPr>
            <a:r>
              <a:t>Each tool has a defined role in the application lifecycle</a:t>
            </a:r>
          </a:p>
        </p:txBody>
      </p:sp>
      <p:sp>
        <p:nvSpPr>
          <p:cNvPr id="4" name="Rectangle 3"/>
          <p:cNvSpPr/>
          <p:nvPr/>
        </p:nvSpPr>
        <p:spPr>
          <a:xfrm>
            <a:off x="621792" y="1298448"/>
            <a:ext cx="713232" cy="50292"/>
          </a:xfrm>
          <a:prstGeom prst="rect">
            <a:avLst/>
          </a:prstGeom>
          <a:solidFill>
            <a:srgbClr val="30BECD"/>
          </a:solidFill>
          <a:ln>
            <a:solidFill>
              <a:srgbClr val="30BE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1201400" y="6510528"/>
            <a:ext cx="411480" cy="16459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r">
              <a:spcAft>
                <a:spcPts val="0"/>
              </a:spcAft>
              <a:defRPr sz="900" b="0" i="0">
                <a:solidFill>
                  <a:srgbClr val="607385"/>
                </a:solidFill>
                <a:latin typeface="Aptos"/>
              </a:defRPr>
            </a:pPr>
            <a:r>
              <a:t>05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1554480"/>
            <a:ext cx="5257800" cy="100584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685800" y="1554480"/>
            <a:ext cx="64008" cy="1005840"/>
          </a:xfrm>
          <a:prstGeom prst="rect">
            <a:avLst/>
          </a:prstGeom>
          <a:solidFill>
            <a:srgbClr val="2A71BE"/>
          </a:solidFill>
          <a:ln>
            <a:solidFill>
              <a:srgbClr val="2A71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86968" y="1719072"/>
            <a:ext cx="4910328" cy="329184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  <a:defRPr sz="1500" b="1" i="0">
                <a:solidFill>
                  <a:srgbClr val="0C1C34"/>
                </a:solidFill>
                <a:latin typeface="Aptos"/>
              </a:defRPr>
            </a:pPr>
            <a:r>
              <a:t>Frontend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6968" y="2148840"/>
            <a:ext cx="4892040" cy="310896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700"/>
              </a:spcAft>
              <a:defRPr sz="1100" b="0" i="0">
                <a:solidFill>
                  <a:srgbClr val="607385"/>
                </a:solidFill>
                <a:latin typeface="Aptos"/>
              </a:defRPr>
            </a:pPr>
            <a:r>
              <a:t>React • Vite • CSS</a:t>
            </a:r>
          </a:p>
          <a:p>
            <a:pPr algn="l">
              <a:spcAft>
                <a:spcPts val="700"/>
              </a:spcAft>
              <a:defRPr sz="1100" b="0" i="0">
                <a:solidFill>
                  <a:srgbClr val="607385"/>
                </a:solidFill>
                <a:latin typeface="Aptos"/>
              </a:defRPr>
            </a:pPr>
            <a:r>
              <a:t>Ticket dashboard and user interactions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309360" y="1554480"/>
            <a:ext cx="5257800" cy="100584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6309360" y="1554480"/>
            <a:ext cx="64008" cy="1005840"/>
          </a:xfrm>
          <a:prstGeom prst="rect">
            <a:avLst/>
          </a:prstGeom>
          <a:solidFill>
            <a:srgbClr val="30BECD"/>
          </a:solidFill>
          <a:ln>
            <a:solidFill>
              <a:srgbClr val="30BE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510528" y="1719072"/>
            <a:ext cx="4910328" cy="329184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  <a:defRPr sz="1500" b="1" i="0">
                <a:solidFill>
                  <a:srgbClr val="0C1C34"/>
                </a:solidFill>
                <a:latin typeface="Aptos"/>
              </a:defRPr>
            </a:pPr>
            <a:r>
              <a:t>Backend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10528" y="2148840"/>
            <a:ext cx="4892040" cy="310896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700"/>
              </a:spcAft>
              <a:defRPr sz="1100" b="0" i="0">
                <a:solidFill>
                  <a:srgbClr val="607385"/>
                </a:solidFill>
                <a:latin typeface="Aptos"/>
              </a:defRPr>
            </a:pPr>
            <a:r>
              <a:t>Python • FastAPI</a:t>
            </a:r>
          </a:p>
          <a:p>
            <a:pPr algn="l">
              <a:spcAft>
                <a:spcPts val="700"/>
              </a:spcAft>
              <a:defRPr sz="1100" b="0" i="0">
                <a:solidFill>
                  <a:srgbClr val="607385"/>
                </a:solidFill>
                <a:latin typeface="Aptos"/>
              </a:defRPr>
            </a:pPr>
            <a:r>
              <a:t>REST API, validation, health and metrics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85800" y="2779776"/>
            <a:ext cx="5257800" cy="100584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685800" y="2779776"/>
            <a:ext cx="64008" cy="1005840"/>
          </a:xfrm>
          <a:prstGeom prst="rect">
            <a:avLst/>
          </a:prstGeom>
          <a:solidFill>
            <a:srgbClr val="2A9B73"/>
          </a:solidFill>
          <a:ln>
            <a:solidFill>
              <a:srgbClr val="2A9B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886968" y="2944368"/>
            <a:ext cx="4910328" cy="329184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  <a:defRPr sz="1500" b="1" i="0">
                <a:solidFill>
                  <a:srgbClr val="0C1C34"/>
                </a:solidFill>
                <a:latin typeface="Aptos"/>
              </a:defRPr>
            </a:pPr>
            <a:r>
              <a:t>Data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86968" y="3374136"/>
            <a:ext cx="4892040" cy="310896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700"/>
              </a:spcAft>
              <a:defRPr sz="1100" b="0" i="0">
                <a:solidFill>
                  <a:srgbClr val="607385"/>
                </a:solidFill>
                <a:latin typeface="Aptos"/>
              </a:defRPr>
            </a:pPr>
            <a:r>
              <a:t>PostgreSQL • SQLAlchemy • Alembic</a:t>
            </a:r>
          </a:p>
          <a:p>
            <a:pPr algn="l">
              <a:spcAft>
                <a:spcPts val="700"/>
              </a:spcAft>
              <a:defRPr sz="1100" b="0" i="0">
                <a:solidFill>
                  <a:srgbClr val="607385"/>
                </a:solidFill>
                <a:latin typeface="Aptos"/>
              </a:defRPr>
            </a:pPr>
            <a:r>
              <a:t>Persistence and schema migrations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309360" y="2779776"/>
            <a:ext cx="5257800" cy="100584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6309360" y="2779776"/>
            <a:ext cx="64008" cy="1005840"/>
          </a:xfrm>
          <a:prstGeom prst="rect">
            <a:avLst/>
          </a:prstGeom>
          <a:solidFill>
            <a:srgbClr val="E19B31"/>
          </a:solidFill>
          <a:ln>
            <a:solidFill>
              <a:srgbClr val="E19B3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6510528" y="2944368"/>
            <a:ext cx="4910328" cy="329184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  <a:defRPr sz="1500" b="1" i="0">
                <a:solidFill>
                  <a:srgbClr val="0C1C34"/>
                </a:solidFill>
                <a:latin typeface="Aptos"/>
              </a:defRPr>
            </a:pPr>
            <a:r>
              <a:t>Quality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10528" y="3374136"/>
            <a:ext cx="4892040" cy="310896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700"/>
              </a:spcAft>
              <a:defRPr sz="1100" b="0" i="0">
                <a:solidFill>
                  <a:srgbClr val="607385"/>
                </a:solidFill>
                <a:latin typeface="Aptos"/>
              </a:defRPr>
            </a:pPr>
            <a:r>
              <a:t>Pytest • GitHub Actions</a:t>
            </a:r>
          </a:p>
          <a:p>
            <a:pPr algn="l">
              <a:spcAft>
                <a:spcPts val="700"/>
              </a:spcAft>
              <a:defRPr sz="1100" b="0" i="0">
                <a:solidFill>
                  <a:srgbClr val="607385"/>
                </a:solidFill>
                <a:latin typeface="Aptos"/>
              </a:defRPr>
            </a:pPr>
            <a:r>
              <a:t>Automated tests and build gates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85800" y="4005072"/>
            <a:ext cx="5257800" cy="100584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685800" y="4005072"/>
            <a:ext cx="64008" cy="1005840"/>
          </a:xfrm>
          <a:prstGeom prst="rect">
            <a:avLst/>
          </a:prstGeom>
          <a:solidFill>
            <a:srgbClr val="2A71BE"/>
          </a:solidFill>
          <a:ln>
            <a:solidFill>
              <a:srgbClr val="2A71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886968" y="4169663"/>
            <a:ext cx="4910328" cy="329184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  <a:defRPr sz="1500" b="1" i="0">
                <a:solidFill>
                  <a:srgbClr val="0C1C34"/>
                </a:solidFill>
                <a:latin typeface="Aptos"/>
              </a:defRPr>
            </a:pPr>
            <a:r>
              <a:t>Containers &amp; security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6968" y="4599432"/>
            <a:ext cx="4892040" cy="310896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700"/>
              </a:spcAft>
              <a:defRPr sz="1100" b="0" i="0">
                <a:solidFill>
                  <a:srgbClr val="607385"/>
                </a:solidFill>
                <a:latin typeface="Aptos"/>
              </a:defRPr>
            </a:pPr>
            <a:r>
              <a:t>Docker • Nginx • Trivy • GHCR</a:t>
            </a:r>
          </a:p>
          <a:p>
            <a:pPr algn="l">
              <a:spcAft>
                <a:spcPts val="700"/>
              </a:spcAft>
              <a:defRPr sz="1100" b="0" i="0">
                <a:solidFill>
                  <a:srgbClr val="607385"/>
                </a:solidFill>
                <a:latin typeface="Aptos"/>
              </a:defRPr>
            </a:pPr>
            <a:r>
              <a:t>Repeatable packaging and image scanning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309360" y="4005072"/>
            <a:ext cx="5257800" cy="100584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6309360" y="4005072"/>
            <a:ext cx="64008" cy="1005840"/>
          </a:xfrm>
          <a:prstGeom prst="rect">
            <a:avLst/>
          </a:prstGeom>
          <a:solidFill>
            <a:srgbClr val="30BECD"/>
          </a:solidFill>
          <a:ln>
            <a:solidFill>
              <a:srgbClr val="30BE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6510528" y="4169663"/>
            <a:ext cx="4910328" cy="329184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  <a:defRPr sz="1500" b="1" i="0">
                <a:solidFill>
                  <a:srgbClr val="0C1C34"/>
                </a:solidFill>
                <a:latin typeface="Aptos"/>
              </a:defRPr>
            </a:pPr>
            <a:r>
              <a:t>Infrastructure &amp; operations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510528" y="4599432"/>
            <a:ext cx="4892040" cy="310896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700"/>
              </a:spcAft>
              <a:defRPr sz="1100" b="0" i="0">
                <a:solidFill>
                  <a:srgbClr val="607385"/>
                </a:solidFill>
                <a:latin typeface="Aptos"/>
              </a:defRPr>
            </a:pPr>
            <a:r>
              <a:t>Terraform • AWS EKS • Kubernetes • Helm</a:t>
            </a:r>
          </a:p>
          <a:p>
            <a:pPr algn="l">
              <a:spcAft>
                <a:spcPts val="700"/>
              </a:spcAft>
              <a:defRPr sz="1100" b="0" i="0">
                <a:solidFill>
                  <a:srgbClr val="607385"/>
                </a:solidFill>
                <a:latin typeface="Aptos"/>
              </a:defRPr>
            </a:pPr>
            <a:r>
              <a:t>Provisioning, deployment, routing and scaling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85800" y="5230368"/>
            <a:ext cx="5257800" cy="100584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Rectangle 30"/>
          <p:cNvSpPr/>
          <p:nvPr/>
        </p:nvSpPr>
        <p:spPr>
          <a:xfrm>
            <a:off x="685800" y="5230368"/>
            <a:ext cx="64008" cy="1005840"/>
          </a:xfrm>
          <a:prstGeom prst="rect">
            <a:avLst/>
          </a:prstGeom>
          <a:solidFill>
            <a:srgbClr val="2A9B73"/>
          </a:solidFill>
          <a:ln>
            <a:solidFill>
              <a:srgbClr val="2A9B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886968" y="5394960"/>
            <a:ext cx="4910328" cy="329184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  <a:defRPr sz="1500" b="1" i="0">
                <a:solidFill>
                  <a:srgbClr val="0C1C34"/>
                </a:solidFill>
                <a:latin typeface="Aptos"/>
              </a:defRPr>
            </a:pPr>
            <a:r>
              <a:t>Monitoring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86968" y="5824728"/>
            <a:ext cx="4892040" cy="310896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700"/>
              </a:spcAft>
              <a:defRPr sz="1100" b="0" i="0">
                <a:solidFill>
                  <a:srgbClr val="607385"/>
                </a:solidFill>
                <a:latin typeface="Aptos"/>
              </a:defRPr>
            </a:pPr>
            <a:r>
              <a:t>Prometheus • Grafana</a:t>
            </a:r>
          </a:p>
          <a:p>
            <a:pPr algn="l">
              <a:spcAft>
                <a:spcPts val="700"/>
              </a:spcAft>
              <a:defRPr sz="1100" b="0" i="0">
                <a:solidFill>
                  <a:srgbClr val="607385"/>
                </a:solidFill>
                <a:latin typeface="Aptos"/>
              </a:defRPr>
            </a:pPr>
            <a:r>
              <a:t>Metrics collection and visualization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EF5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20040"/>
            <a:ext cx="10972800" cy="5029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  <a:defRPr sz="2700" b="1" i="0">
                <a:solidFill>
                  <a:srgbClr val="0C1C34"/>
                </a:solidFill>
                <a:latin typeface="Aptos"/>
              </a:defRPr>
            </a:pPr>
            <a:r>
              <a:t>Application experience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868680"/>
            <a:ext cx="10881360" cy="34747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  <a:defRPr sz="1200" b="0" i="0">
                <a:solidFill>
                  <a:srgbClr val="607385"/>
                </a:solidFill>
                <a:latin typeface="Aptos"/>
              </a:defRPr>
            </a:pPr>
            <a:r>
              <a:t>A support dashboard designed to make the workflow easy to demonstrate</a:t>
            </a:r>
          </a:p>
        </p:txBody>
      </p:sp>
      <p:sp>
        <p:nvSpPr>
          <p:cNvPr id="4" name="Rectangle 3"/>
          <p:cNvSpPr/>
          <p:nvPr/>
        </p:nvSpPr>
        <p:spPr>
          <a:xfrm>
            <a:off x="621792" y="1298448"/>
            <a:ext cx="713232" cy="50292"/>
          </a:xfrm>
          <a:prstGeom prst="rect">
            <a:avLst/>
          </a:prstGeom>
          <a:solidFill>
            <a:srgbClr val="30BECD"/>
          </a:solidFill>
          <a:ln>
            <a:solidFill>
              <a:srgbClr val="30BE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1201400" y="6510528"/>
            <a:ext cx="411480" cy="16459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r">
              <a:spcAft>
                <a:spcPts val="0"/>
              </a:spcAft>
              <a:defRPr sz="900" b="0" i="0">
                <a:solidFill>
                  <a:srgbClr val="607385"/>
                </a:solidFill>
                <a:latin typeface="Aptos"/>
              </a:defRPr>
            </a:pPr>
            <a:r>
              <a:t>06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645920"/>
            <a:ext cx="3429000" cy="1874519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731520" y="1645920"/>
            <a:ext cx="64008" cy="1874519"/>
          </a:xfrm>
          <a:prstGeom prst="rect">
            <a:avLst/>
          </a:prstGeom>
          <a:solidFill>
            <a:srgbClr val="2A71BE"/>
          </a:solidFill>
          <a:ln>
            <a:solidFill>
              <a:srgbClr val="2A71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932688" y="1810512"/>
            <a:ext cx="3081528" cy="329184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  <a:defRPr sz="1700" b="1" i="0">
                <a:solidFill>
                  <a:srgbClr val="0C1C34"/>
                </a:solidFill>
                <a:latin typeface="Aptos"/>
              </a:defRPr>
            </a:pPr>
            <a:r>
              <a:t>At-a-glance KPIs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32688" y="2240280"/>
            <a:ext cx="3063240" cy="1179575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  <a:defRPr sz="1300" b="0" i="0">
                <a:solidFill>
                  <a:srgbClr val="607385"/>
                </a:solidFill>
                <a:latin typeface="Aptos"/>
              </a:defRPr>
            </a:pPr>
            <a:r>
              <a:t>Summary cards help communicate ticket volume and status distribution.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89120" y="1645920"/>
            <a:ext cx="3429000" cy="1874519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4389120" y="1645920"/>
            <a:ext cx="64008" cy="1874519"/>
          </a:xfrm>
          <a:prstGeom prst="rect">
            <a:avLst/>
          </a:prstGeom>
          <a:solidFill>
            <a:srgbClr val="30BECD"/>
          </a:solidFill>
          <a:ln>
            <a:solidFill>
              <a:srgbClr val="30BE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590288" y="1810512"/>
            <a:ext cx="3081528" cy="329184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  <a:defRPr sz="1700" b="1" i="0">
                <a:solidFill>
                  <a:srgbClr val="0C1C34"/>
                </a:solidFill>
                <a:latin typeface="Aptos"/>
              </a:defRPr>
            </a:pPr>
            <a:r>
              <a:t>Ticket table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90288" y="2240280"/>
            <a:ext cx="3063240" cy="1179575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  <a:defRPr sz="1300" b="0" i="0">
                <a:solidFill>
                  <a:srgbClr val="607385"/>
                </a:solidFill>
                <a:latin typeface="Aptos"/>
              </a:defRPr>
            </a:pPr>
            <a:r>
              <a:t>View tickets with their status, priority and relevant details.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46720" y="1645920"/>
            <a:ext cx="3429000" cy="1874519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8046720" y="1645920"/>
            <a:ext cx="64008" cy="1874519"/>
          </a:xfrm>
          <a:prstGeom prst="rect">
            <a:avLst/>
          </a:prstGeom>
          <a:solidFill>
            <a:srgbClr val="2A9B73"/>
          </a:solidFill>
          <a:ln>
            <a:solidFill>
              <a:srgbClr val="2A9B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8247888" y="1810512"/>
            <a:ext cx="3081528" cy="329184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  <a:defRPr sz="1700" b="1" i="0">
                <a:solidFill>
                  <a:srgbClr val="0C1C34"/>
                </a:solidFill>
                <a:latin typeface="Aptos"/>
              </a:defRPr>
            </a:pPr>
            <a:r>
              <a:t>Interactive workflow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47888" y="2240280"/>
            <a:ext cx="3063240" cy="1179575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  <a:defRPr sz="1300" b="0" i="0">
                <a:solidFill>
                  <a:srgbClr val="607385"/>
                </a:solidFill>
                <a:latin typeface="Aptos"/>
              </a:defRPr>
            </a:pPr>
            <a:r>
              <a:t>Create a ticket, filter the list and update or remove a ticket.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2960" y="4069080"/>
            <a:ext cx="10607040" cy="36576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  <a:defRPr sz="1800" b="1" i="0">
                <a:solidFill>
                  <a:srgbClr val="0C1C34"/>
                </a:solidFill>
                <a:latin typeface="Aptos"/>
              </a:defRPr>
            </a:pPr>
            <a:r>
              <a:t>What to show in the recording</a:t>
            </a:r>
          </a:p>
        </p:txBody>
      </p:sp>
      <p:sp>
        <p:nvSpPr>
          <p:cNvPr id="19" name="Oval 18"/>
          <p:cNvSpPr/>
          <p:nvPr/>
        </p:nvSpPr>
        <p:spPr>
          <a:xfrm>
            <a:off x="914400" y="4626864"/>
            <a:ext cx="109728" cy="109728"/>
          </a:xfrm>
          <a:prstGeom prst="ellipse">
            <a:avLst/>
          </a:prstGeom>
          <a:solidFill>
            <a:srgbClr val="30BE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1133856" y="4526280"/>
            <a:ext cx="10021824" cy="423672"/>
          </a:xfrm>
          <a:prstGeom prst="rect">
            <a:avLst/>
          </a:prstGeom>
          <a:noFill/>
        </p:spPr>
        <p:txBody>
          <a:bodyPr wrap="square" lIns="9144" tIns="9144" rIns="9144" bIns="9144" anchor="t">
            <a:spAutoFit/>
          </a:bodyPr>
          <a:lstStyle/>
          <a:p>
            <a:pPr algn="l">
              <a:spcAft>
                <a:spcPts val="0"/>
              </a:spcAft>
              <a:defRPr sz="1500" b="0" i="0">
                <a:solidFill>
                  <a:srgbClr val="223142"/>
                </a:solidFill>
                <a:latin typeface="Aptos"/>
              </a:defRPr>
            </a:pPr>
            <a:r>
              <a:t>Load the dashboard and point out the main ticket summary.</a:t>
            </a:r>
          </a:p>
        </p:txBody>
      </p:sp>
      <p:sp>
        <p:nvSpPr>
          <p:cNvPr id="21" name="Oval 20"/>
          <p:cNvSpPr/>
          <p:nvPr/>
        </p:nvSpPr>
        <p:spPr>
          <a:xfrm>
            <a:off x="914400" y="5068824"/>
            <a:ext cx="109728" cy="109728"/>
          </a:xfrm>
          <a:prstGeom prst="ellipse">
            <a:avLst/>
          </a:prstGeom>
          <a:solidFill>
            <a:srgbClr val="30BE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1133856" y="4968240"/>
            <a:ext cx="10021824" cy="423672"/>
          </a:xfrm>
          <a:prstGeom prst="rect">
            <a:avLst/>
          </a:prstGeom>
          <a:noFill/>
        </p:spPr>
        <p:txBody>
          <a:bodyPr wrap="square" lIns="9144" tIns="9144" rIns="9144" bIns="9144" anchor="t">
            <a:spAutoFit/>
          </a:bodyPr>
          <a:lstStyle/>
          <a:p>
            <a:pPr algn="l">
              <a:spcAft>
                <a:spcPts val="0"/>
              </a:spcAft>
              <a:defRPr sz="1500" b="0" i="0">
                <a:solidFill>
                  <a:srgbClr val="223142"/>
                </a:solidFill>
                <a:latin typeface="Aptos"/>
              </a:defRPr>
            </a:pPr>
            <a:r>
              <a:t>Create a new ticket and confirm it appears in the list.</a:t>
            </a:r>
          </a:p>
        </p:txBody>
      </p:sp>
      <p:sp>
        <p:nvSpPr>
          <p:cNvPr id="23" name="Oval 22"/>
          <p:cNvSpPr/>
          <p:nvPr/>
        </p:nvSpPr>
        <p:spPr>
          <a:xfrm>
            <a:off x="914400" y="5510784"/>
            <a:ext cx="109728" cy="109728"/>
          </a:xfrm>
          <a:prstGeom prst="ellipse">
            <a:avLst/>
          </a:prstGeom>
          <a:solidFill>
            <a:srgbClr val="30BE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1133856" y="5410200"/>
            <a:ext cx="10021824" cy="423672"/>
          </a:xfrm>
          <a:prstGeom prst="rect">
            <a:avLst/>
          </a:prstGeom>
          <a:noFill/>
        </p:spPr>
        <p:txBody>
          <a:bodyPr wrap="square" lIns="9144" tIns="9144" rIns="9144" bIns="9144" anchor="t">
            <a:spAutoFit/>
          </a:bodyPr>
          <a:lstStyle/>
          <a:p>
            <a:pPr algn="l">
              <a:spcAft>
                <a:spcPts val="0"/>
              </a:spcAft>
              <a:defRPr sz="1500" b="0" i="0">
                <a:solidFill>
                  <a:srgbClr val="223142"/>
                </a:solidFill>
                <a:latin typeface="Aptos"/>
              </a:defRPr>
            </a:pPr>
            <a:r>
              <a:t>Change a ticket's status, refresh the page and show persistence.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EF5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20040"/>
            <a:ext cx="10972800" cy="5029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  <a:defRPr sz="2700" b="1" i="0">
                <a:solidFill>
                  <a:srgbClr val="0C1C34"/>
                </a:solidFill>
                <a:latin typeface="Aptos"/>
              </a:defRPr>
            </a:pPr>
            <a:r>
              <a:t>Backend and REST API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868680"/>
            <a:ext cx="10881360" cy="34747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  <a:defRPr sz="1200" b="0" i="0">
                <a:solidFill>
                  <a:srgbClr val="607385"/>
                </a:solidFill>
                <a:latin typeface="Aptos"/>
              </a:defRPr>
            </a:pPr>
            <a:r>
              <a:t>FastAPI provides a documented contract between the UI and the data layer</a:t>
            </a:r>
          </a:p>
        </p:txBody>
      </p:sp>
      <p:sp>
        <p:nvSpPr>
          <p:cNvPr id="4" name="Rectangle 3"/>
          <p:cNvSpPr/>
          <p:nvPr/>
        </p:nvSpPr>
        <p:spPr>
          <a:xfrm>
            <a:off x="621792" y="1298448"/>
            <a:ext cx="713232" cy="50292"/>
          </a:xfrm>
          <a:prstGeom prst="rect">
            <a:avLst/>
          </a:prstGeom>
          <a:solidFill>
            <a:srgbClr val="30BECD"/>
          </a:solidFill>
          <a:ln>
            <a:solidFill>
              <a:srgbClr val="30BE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1201400" y="6510528"/>
            <a:ext cx="411480" cy="16459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r">
              <a:spcAft>
                <a:spcPts val="0"/>
              </a:spcAft>
              <a:defRPr sz="900" b="0" i="0">
                <a:solidFill>
                  <a:srgbClr val="607385"/>
                </a:solidFill>
                <a:latin typeface="Aptos"/>
              </a:defRPr>
            </a:pPr>
            <a:r>
              <a:t>07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77240" y="1600200"/>
            <a:ext cx="10652760" cy="457200"/>
          </a:xfrm>
          <a:prstGeom prst="roundRect">
            <a:avLst>
              <a:gd name="adj" fmla="val 12000"/>
            </a:avLst>
          </a:prstGeom>
          <a:solidFill>
            <a:srgbClr val="142B49"/>
          </a:solidFill>
          <a:ln>
            <a:solidFill>
              <a:srgbClr val="142B4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60120" y="1682496"/>
            <a:ext cx="1234440" cy="22860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  <a:defRPr sz="1100" b="1" i="0">
                <a:solidFill>
                  <a:srgbClr val="FFFFFF"/>
                </a:solidFill>
                <a:latin typeface="Aptos"/>
              </a:defRPr>
            </a:pPr>
            <a:r>
              <a:t>METHOD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468880" y="1682496"/>
            <a:ext cx="3657600" cy="22860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  <a:defRPr sz="1100" b="1" i="0">
                <a:solidFill>
                  <a:srgbClr val="FFFFFF"/>
                </a:solidFill>
                <a:latin typeface="Aptos"/>
              </a:defRPr>
            </a:pPr>
            <a:r>
              <a:t>ENDPOINT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0" y="1682496"/>
            <a:ext cx="4114800" cy="22860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  <a:defRPr sz="1100" b="1" i="0">
                <a:solidFill>
                  <a:srgbClr val="FFFFFF"/>
                </a:solidFill>
                <a:latin typeface="Aptos"/>
              </a:defRPr>
            </a:pPr>
            <a:r>
              <a:t>PURPOSE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77240" y="2084831"/>
            <a:ext cx="10652760" cy="512064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D7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960120" y="2203703"/>
            <a:ext cx="1097280" cy="22860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  <a:defRPr sz="1200" b="1" i="0">
                <a:solidFill>
                  <a:srgbClr val="2A9B73"/>
                </a:solidFill>
                <a:latin typeface="Aptos"/>
              </a:defRPr>
            </a:pPr>
            <a:r>
              <a:t>GET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468880" y="2203703"/>
            <a:ext cx="3931920" cy="22860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  <a:defRPr sz="1300" b="1" i="0">
                <a:solidFill>
                  <a:srgbClr val="0C1C34"/>
                </a:solidFill>
                <a:latin typeface="Aptos"/>
              </a:defRPr>
            </a:pPr>
            <a:r>
              <a:t>/api/tickets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83680" y="2203703"/>
            <a:ext cx="4206240" cy="22860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  <a:defRPr sz="1300" b="0" i="0">
                <a:solidFill>
                  <a:srgbClr val="607385"/>
                </a:solidFill>
                <a:latin typeface="Aptos"/>
              </a:defRPr>
            </a:pPr>
            <a:r>
              <a:t>List tickets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77240" y="2651760"/>
            <a:ext cx="10652760" cy="512064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D7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960120" y="2770632"/>
            <a:ext cx="1097280" cy="22860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  <a:defRPr sz="1200" b="1" i="0">
                <a:solidFill>
                  <a:srgbClr val="2A9B73"/>
                </a:solidFill>
                <a:latin typeface="Aptos"/>
              </a:defRPr>
            </a:pPr>
            <a:r>
              <a:t>GET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468880" y="2770632"/>
            <a:ext cx="3931920" cy="22860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  <a:defRPr sz="1300" b="1" i="0">
                <a:solidFill>
                  <a:srgbClr val="0C1C34"/>
                </a:solidFill>
                <a:latin typeface="Aptos"/>
              </a:defRPr>
            </a:pPr>
            <a:r>
              <a:t>/api/tickets/{id}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83680" y="2770632"/>
            <a:ext cx="4206240" cy="22860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  <a:defRPr sz="1300" b="0" i="0">
                <a:solidFill>
                  <a:srgbClr val="607385"/>
                </a:solidFill>
                <a:latin typeface="Aptos"/>
              </a:defRPr>
            </a:pPr>
            <a:r>
              <a:t>Read one ticket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77240" y="3218687"/>
            <a:ext cx="10652760" cy="512064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D7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960120" y="3337559"/>
            <a:ext cx="1097280" cy="22860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  <a:defRPr sz="1200" b="1" i="0">
                <a:solidFill>
                  <a:srgbClr val="2A9B73"/>
                </a:solidFill>
                <a:latin typeface="Aptos"/>
              </a:defRPr>
            </a:pPr>
            <a:r>
              <a:t>POST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468880" y="3337559"/>
            <a:ext cx="3931920" cy="22860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  <a:defRPr sz="1300" b="1" i="0">
                <a:solidFill>
                  <a:srgbClr val="0C1C34"/>
                </a:solidFill>
                <a:latin typeface="Aptos"/>
              </a:defRPr>
            </a:pPr>
            <a:r>
              <a:t>/api/tickets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83680" y="3337559"/>
            <a:ext cx="4206240" cy="22860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  <a:defRPr sz="1300" b="0" i="0">
                <a:solidFill>
                  <a:srgbClr val="607385"/>
                </a:solidFill>
                <a:latin typeface="Aptos"/>
              </a:defRPr>
            </a:pPr>
            <a:r>
              <a:t>Create ticket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77240" y="3785615"/>
            <a:ext cx="10652760" cy="512064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D7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960120" y="3904487"/>
            <a:ext cx="1097280" cy="22860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  <a:defRPr sz="1200" b="1" i="0">
                <a:solidFill>
                  <a:srgbClr val="E19B31"/>
                </a:solidFill>
                <a:latin typeface="Aptos"/>
              </a:defRPr>
            </a:pPr>
            <a:r>
              <a:t>PUT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468880" y="3904487"/>
            <a:ext cx="3931920" cy="22860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  <a:defRPr sz="1300" b="1" i="0">
                <a:solidFill>
                  <a:srgbClr val="0C1C34"/>
                </a:solidFill>
                <a:latin typeface="Aptos"/>
              </a:defRPr>
            </a:pPr>
            <a:r>
              <a:t>/api/tickets/{id}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583680" y="3904487"/>
            <a:ext cx="4206240" cy="22860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  <a:defRPr sz="1300" b="0" i="0">
                <a:solidFill>
                  <a:srgbClr val="607385"/>
                </a:solidFill>
                <a:latin typeface="Aptos"/>
              </a:defRPr>
            </a:pPr>
            <a:r>
              <a:t>Update ticket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777240" y="4352544"/>
            <a:ext cx="10652760" cy="512064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D7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960120" y="4471416"/>
            <a:ext cx="1097280" cy="22860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  <a:defRPr sz="1200" b="1" i="0">
                <a:solidFill>
                  <a:srgbClr val="CA5252"/>
                </a:solidFill>
                <a:latin typeface="Aptos"/>
              </a:defRPr>
            </a:pPr>
            <a:r>
              <a:t>DELETE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468880" y="4471416"/>
            <a:ext cx="3931920" cy="22860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  <a:defRPr sz="1300" b="1" i="0">
                <a:solidFill>
                  <a:srgbClr val="0C1C34"/>
                </a:solidFill>
                <a:latin typeface="Aptos"/>
              </a:defRPr>
            </a:pPr>
            <a:r>
              <a:t>/api/tickets/{id}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583680" y="4471416"/>
            <a:ext cx="4206240" cy="22860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  <a:defRPr sz="1300" b="0" i="0">
                <a:solidFill>
                  <a:srgbClr val="607385"/>
                </a:solidFill>
                <a:latin typeface="Aptos"/>
              </a:defRPr>
            </a:pPr>
            <a:r>
              <a:t>Delete ticket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68680" y="5166360"/>
            <a:ext cx="10332720" cy="68580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  <a:defRPr sz="1500" b="0" i="0">
                <a:solidFill>
                  <a:srgbClr val="223142"/>
                </a:solidFill>
                <a:latin typeface="Aptos"/>
              </a:defRPr>
            </a:pPr>
            <a:r>
              <a:t>Operational endpoints: /health for liveness, /ready for database readiness, and /metrics for Prometheus-formatted telemetry. Swagger UI is available at /docs.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EF5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20040"/>
            <a:ext cx="10972800" cy="5029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  <a:defRPr sz="2700" b="1" i="0">
                <a:solidFill>
                  <a:srgbClr val="0C1C34"/>
                </a:solidFill>
                <a:latin typeface="Aptos"/>
              </a:defRPr>
            </a:pPr>
            <a:r>
              <a:t>Database and migrations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868680"/>
            <a:ext cx="10881360" cy="34747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  <a:defRPr sz="1200" b="0" i="0">
                <a:solidFill>
                  <a:srgbClr val="607385"/>
                </a:solidFill>
                <a:latin typeface="Aptos"/>
              </a:defRPr>
            </a:pPr>
            <a:r>
              <a:t>Keep persistent data and schema changes controlled</a:t>
            </a:r>
          </a:p>
        </p:txBody>
      </p:sp>
      <p:sp>
        <p:nvSpPr>
          <p:cNvPr id="4" name="Rectangle 3"/>
          <p:cNvSpPr/>
          <p:nvPr/>
        </p:nvSpPr>
        <p:spPr>
          <a:xfrm>
            <a:off x="621792" y="1298448"/>
            <a:ext cx="713232" cy="50292"/>
          </a:xfrm>
          <a:prstGeom prst="rect">
            <a:avLst/>
          </a:prstGeom>
          <a:solidFill>
            <a:srgbClr val="30BECD"/>
          </a:solidFill>
          <a:ln>
            <a:solidFill>
              <a:srgbClr val="30BE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1201400" y="6510528"/>
            <a:ext cx="411480" cy="16459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r">
              <a:spcAft>
                <a:spcPts val="0"/>
              </a:spcAft>
              <a:defRPr sz="900" b="0" i="0">
                <a:solidFill>
                  <a:srgbClr val="607385"/>
                </a:solidFill>
                <a:latin typeface="Aptos"/>
              </a:defRPr>
            </a:pPr>
            <a:r>
              <a:t>08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77240" y="1691640"/>
            <a:ext cx="3246120" cy="214884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777240" y="1691640"/>
            <a:ext cx="64008" cy="2148840"/>
          </a:xfrm>
          <a:prstGeom prst="rect">
            <a:avLst/>
          </a:prstGeom>
          <a:solidFill>
            <a:srgbClr val="2A71BE"/>
          </a:solidFill>
          <a:ln>
            <a:solidFill>
              <a:srgbClr val="2A71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978408" y="1856232"/>
            <a:ext cx="2898648" cy="329184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  <a:defRPr sz="1700" b="1" i="0">
                <a:solidFill>
                  <a:srgbClr val="0C1C34"/>
                </a:solidFill>
                <a:latin typeface="Aptos"/>
              </a:defRPr>
            </a:pPr>
            <a:r>
              <a:t>PostgreSQL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78408" y="2286000"/>
            <a:ext cx="2880360" cy="1453896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  <a:defRPr sz="1300" b="0" i="0">
                <a:solidFill>
                  <a:srgbClr val="607385"/>
                </a:solidFill>
                <a:latin typeface="Aptos"/>
              </a:defRPr>
            </a:pPr>
            <a:r>
              <a:t>Stores support-ticket records and lets changes persist across browser refreshes.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480560" y="1691640"/>
            <a:ext cx="3246120" cy="214884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4480560" y="1691640"/>
            <a:ext cx="64008" cy="2148840"/>
          </a:xfrm>
          <a:prstGeom prst="rect">
            <a:avLst/>
          </a:prstGeom>
          <a:solidFill>
            <a:srgbClr val="30BECD"/>
          </a:solidFill>
          <a:ln>
            <a:solidFill>
              <a:srgbClr val="30BE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681728" y="1856232"/>
            <a:ext cx="2898648" cy="329184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  <a:defRPr sz="1700" b="1" i="0">
                <a:solidFill>
                  <a:srgbClr val="0C1C34"/>
                </a:solidFill>
                <a:latin typeface="Aptos"/>
              </a:defRPr>
            </a:pPr>
            <a:r>
              <a:t>SQLAlchemy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81728" y="2286000"/>
            <a:ext cx="2880360" cy="1453896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  <a:defRPr sz="1300" b="0" i="0">
                <a:solidFill>
                  <a:srgbClr val="607385"/>
                </a:solidFill>
                <a:latin typeface="Aptos"/>
              </a:defRPr>
            </a:pPr>
            <a:r>
              <a:t>Maps Python objects to database records and keeps data access organized.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183879" y="1691640"/>
            <a:ext cx="3246120" cy="214884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8183879" y="1691640"/>
            <a:ext cx="64008" cy="2148840"/>
          </a:xfrm>
          <a:prstGeom prst="rect">
            <a:avLst/>
          </a:prstGeom>
          <a:solidFill>
            <a:srgbClr val="2A9B73"/>
          </a:solidFill>
          <a:ln>
            <a:solidFill>
              <a:srgbClr val="2A9B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8385048" y="1856232"/>
            <a:ext cx="2898648" cy="329184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  <a:defRPr sz="1700" b="1" i="0">
                <a:solidFill>
                  <a:srgbClr val="0C1C34"/>
                </a:solidFill>
                <a:latin typeface="Aptos"/>
              </a:defRPr>
            </a:pPr>
            <a:r>
              <a:t>Alembic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85048" y="2286000"/>
            <a:ext cx="2880360" cy="1453896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  <a:defRPr sz="1300" b="0" i="0">
                <a:solidFill>
                  <a:srgbClr val="607385"/>
                </a:solidFill>
                <a:latin typeface="Aptos"/>
              </a:defRPr>
            </a:pPr>
            <a:r>
              <a:t>Tracks schema changes as versioned migrations instead of relying on manual edits.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4400" y="4343400"/>
            <a:ext cx="10058400" cy="36576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  <a:defRPr sz="1800" b="1" i="0">
                <a:solidFill>
                  <a:srgbClr val="0C1C34"/>
                </a:solidFill>
                <a:latin typeface="Aptos"/>
              </a:defRPr>
            </a:pPr>
            <a:r>
              <a:t>Why migrations matter</a:t>
            </a:r>
          </a:p>
        </p:txBody>
      </p:sp>
      <p:sp>
        <p:nvSpPr>
          <p:cNvPr id="19" name="Oval 18"/>
          <p:cNvSpPr/>
          <p:nvPr/>
        </p:nvSpPr>
        <p:spPr>
          <a:xfrm>
            <a:off x="914400" y="4855464"/>
            <a:ext cx="109728" cy="109728"/>
          </a:xfrm>
          <a:prstGeom prst="ellipse">
            <a:avLst/>
          </a:prstGeom>
          <a:solidFill>
            <a:srgbClr val="30BE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1133856" y="4754880"/>
            <a:ext cx="10021824" cy="507491"/>
          </a:xfrm>
          <a:prstGeom prst="rect">
            <a:avLst/>
          </a:prstGeom>
          <a:noFill/>
        </p:spPr>
        <p:txBody>
          <a:bodyPr wrap="square" lIns="9144" tIns="9144" rIns="9144" bIns="9144" anchor="t">
            <a:spAutoFit/>
          </a:bodyPr>
          <a:lstStyle/>
          <a:p>
            <a:pPr algn="l">
              <a:spcAft>
                <a:spcPts val="0"/>
              </a:spcAft>
              <a:defRPr sz="1500" b="0" i="0">
                <a:solidFill>
                  <a:srgbClr val="223142"/>
                </a:solidFill>
                <a:latin typeface="Aptos"/>
              </a:defRPr>
            </a:pPr>
            <a:r>
              <a:t>A new environment can be initialized using the same migration history.</a:t>
            </a:r>
          </a:p>
        </p:txBody>
      </p:sp>
      <p:sp>
        <p:nvSpPr>
          <p:cNvPr id="21" name="Oval 20"/>
          <p:cNvSpPr/>
          <p:nvPr/>
        </p:nvSpPr>
        <p:spPr>
          <a:xfrm>
            <a:off x="914400" y="5381244"/>
            <a:ext cx="109728" cy="109728"/>
          </a:xfrm>
          <a:prstGeom prst="ellipse">
            <a:avLst/>
          </a:prstGeom>
          <a:solidFill>
            <a:srgbClr val="30BE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1133856" y="5280660"/>
            <a:ext cx="10021824" cy="507491"/>
          </a:xfrm>
          <a:prstGeom prst="rect">
            <a:avLst/>
          </a:prstGeom>
          <a:noFill/>
        </p:spPr>
        <p:txBody>
          <a:bodyPr wrap="square" lIns="9144" tIns="9144" rIns="9144" bIns="9144" anchor="t">
            <a:spAutoFit/>
          </a:bodyPr>
          <a:lstStyle/>
          <a:p>
            <a:pPr algn="l">
              <a:spcAft>
                <a:spcPts val="0"/>
              </a:spcAft>
              <a:defRPr sz="1500" b="0" i="0">
                <a:solidFill>
                  <a:srgbClr val="223142"/>
                </a:solidFill>
                <a:latin typeface="Aptos"/>
              </a:defRPr>
            </a:pPr>
            <a:r>
              <a:t>Schema changes are reviewable and repeatable alongside source code.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EF5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20040"/>
            <a:ext cx="10972800" cy="5029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  <a:defRPr sz="2700" b="1" i="0">
                <a:solidFill>
                  <a:srgbClr val="0C1C34"/>
                </a:solidFill>
                <a:latin typeface="Aptos"/>
              </a:defRPr>
            </a:pPr>
            <a:r>
              <a:t>Testing and quality gates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868680"/>
            <a:ext cx="10881360" cy="34747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  <a:defRPr sz="1200" b="0" i="0">
                <a:solidFill>
                  <a:srgbClr val="607385"/>
                </a:solidFill>
                <a:latin typeface="Aptos"/>
              </a:defRPr>
            </a:pPr>
            <a:r>
              <a:t>Automated tests should catch regressions before images are published</a:t>
            </a:r>
          </a:p>
        </p:txBody>
      </p:sp>
      <p:sp>
        <p:nvSpPr>
          <p:cNvPr id="4" name="Rectangle 3"/>
          <p:cNvSpPr/>
          <p:nvPr/>
        </p:nvSpPr>
        <p:spPr>
          <a:xfrm>
            <a:off x="621792" y="1298448"/>
            <a:ext cx="713232" cy="50292"/>
          </a:xfrm>
          <a:prstGeom prst="rect">
            <a:avLst/>
          </a:prstGeom>
          <a:solidFill>
            <a:srgbClr val="30BECD"/>
          </a:solidFill>
          <a:ln>
            <a:solidFill>
              <a:srgbClr val="30BE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1201400" y="6510528"/>
            <a:ext cx="411480" cy="16459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r">
              <a:spcAft>
                <a:spcPts val="0"/>
              </a:spcAft>
              <a:defRPr sz="900" b="0" i="0">
                <a:solidFill>
                  <a:srgbClr val="607385"/>
                </a:solidFill>
                <a:latin typeface="Aptos"/>
              </a:defRPr>
            </a:pPr>
            <a:r>
              <a:t>09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77240" y="1947673"/>
            <a:ext cx="2423160" cy="210312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D7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14400" y="2057400"/>
            <a:ext cx="502920" cy="45720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  <a:defRPr sz="2500" b="1" i="0">
                <a:solidFill>
                  <a:srgbClr val="30BECD"/>
                </a:solidFill>
                <a:latin typeface="Aptos"/>
              </a:defRPr>
            </a:pPr>
            <a: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697480"/>
            <a:ext cx="2011680" cy="32004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  <a:defRPr sz="1700" b="1" i="0">
                <a:solidFill>
                  <a:srgbClr val="0C1C34"/>
                </a:solidFill>
                <a:latin typeface="Aptos"/>
              </a:defRPr>
            </a:pPr>
            <a:r>
              <a:t>Isolate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3127248"/>
            <a:ext cx="2011680" cy="65836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  <a:defRPr sz="1200" b="0" i="0">
                <a:solidFill>
                  <a:srgbClr val="607385"/>
                </a:solidFill>
                <a:latin typeface="Aptos"/>
              </a:defRPr>
            </a:pPr>
            <a:r>
              <a:t>Use a dedicated test database or test fixture.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3182112" y="2852928"/>
            <a:ext cx="292608" cy="0"/>
          </a:xfrm>
          <a:prstGeom prst="line">
            <a:avLst/>
          </a:prstGeom>
          <a:ln w="25400">
            <a:solidFill>
              <a:srgbClr val="2A71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3566160" y="1874519"/>
            <a:ext cx="2423160" cy="210312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D7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3749040" y="2057400"/>
            <a:ext cx="502920" cy="45720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  <a:defRPr sz="2500" b="1" i="0">
                <a:solidFill>
                  <a:srgbClr val="30BECD"/>
                </a:solidFill>
                <a:latin typeface="Aptos"/>
              </a:defRPr>
            </a:pPr>
            <a: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749040" y="2697480"/>
            <a:ext cx="2011680" cy="32004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  <a:defRPr sz="1700" b="1" i="0">
                <a:solidFill>
                  <a:srgbClr val="0C1C34"/>
                </a:solidFill>
                <a:latin typeface="Aptos"/>
              </a:defRPr>
            </a:pPr>
            <a:r>
              <a:t>Exercise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749040" y="3127248"/>
            <a:ext cx="2011680" cy="65836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  <a:defRPr sz="1200" b="0" i="0">
                <a:solidFill>
                  <a:srgbClr val="607385"/>
                </a:solidFill>
                <a:latin typeface="Aptos"/>
              </a:defRPr>
            </a:pPr>
            <a:r>
              <a:rPr dirty="0"/>
              <a:t>Test success cases, validation and missing records.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6016752" y="2852928"/>
            <a:ext cx="292608" cy="0"/>
          </a:xfrm>
          <a:prstGeom prst="line">
            <a:avLst/>
          </a:prstGeom>
          <a:ln w="25400">
            <a:solidFill>
              <a:srgbClr val="2A71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ounded Rectangle 15"/>
          <p:cNvSpPr/>
          <p:nvPr/>
        </p:nvSpPr>
        <p:spPr>
          <a:xfrm>
            <a:off x="6400800" y="1874519"/>
            <a:ext cx="2423160" cy="210312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D7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583680" y="2057400"/>
            <a:ext cx="502920" cy="45720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  <a:defRPr sz="2500" b="1" i="0">
                <a:solidFill>
                  <a:srgbClr val="30BECD"/>
                </a:solidFill>
                <a:latin typeface="Aptos"/>
              </a:defRPr>
            </a:pPr>
            <a: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83680" y="2697480"/>
            <a:ext cx="2011680" cy="32004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  <a:defRPr sz="1700" b="1" i="0">
                <a:solidFill>
                  <a:srgbClr val="0C1C34"/>
                </a:solidFill>
                <a:latin typeface="Aptos"/>
              </a:defRPr>
            </a:pPr>
            <a:r>
              <a:rPr dirty="0"/>
              <a:t>Verify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83680" y="3127248"/>
            <a:ext cx="2011680" cy="65836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  <a:defRPr sz="1200" b="0" i="0">
                <a:solidFill>
                  <a:srgbClr val="607385"/>
                </a:solidFill>
                <a:latin typeface="Aptos"/>
              </a:defRPr>
            </a:pPr>
            <a:r>
              <a:t>Run pytest and inspect the exit status.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8851392" y="2852928"/>
            <a:ext cx="292608" cy="0"/>
          </a:xfrm>
          <a:prstGeom prst="line">
            <a:avLst/>
          </a:prstGeom>
          <a:ln w="25400">
            <a:solidFill>
              <a:srgbClr val="2A71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Rounded Rectangle 20"/>
          <p:cNvSpPr/>
          <p:nvPr/>
        </p:nvSpPr>
        <p:spPr>
          <a:xfrm>
            <a:off x="9235440" y="1874519"/>
            <a:ext cx="2423160" cy="210312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D7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9418320" y="2057400"/>
            <a:ext cx="502920" cy="45720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  <a:defRPr sz="2500" b="1" i="0">
                <a:solidFill>
                  <a:srgbClr val="30BECD"/>
                </a:solidFill>
                <a:latin typeface="Aptos"/>
              </a:defRPr>
            </a:pPr>
            <a: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418320" y="2697480"/>
            <a:ext cx="2011680" cy="32004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  <a:defRPr sz="1700" b="1" i="0">
                <a:solidFill>
                  <a:srgbClr val="0C1C34"/>
                </a:solidFill>
                <a:latin typeface="Aptos"/>
              </a:defRPr>
            </a:pPr>
            <a:r>
              <a:rPr dirty="0"/>
              <a:t>Gate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418320" y="3127248"/>
            <a:ext cx="2011680" cy="65836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  <a:defRPr sz="1200" b="0" i="0">
                <a:solidFill>
                  <a:srgbClr val="607385"/>
                </a:solidFill>
                <a:latin typeface="Aptos"/>
              </a:defRPr>
            </a:pPr>
            <a:r>
              <a:t>Fail CI if tests fail; do not publish a broken build.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960120" y="4709160"/>
            <a:ext cx="10149840" cy="777240"/>
          </a:xfrm>
          <a:prstGeom prst="roundRect">
            <a:avLst>
              <a:gd name="adj" fmla="val 12000"/>
            </a:avLst>
          </a:prstGeom>
          <a:solidFill>
            <a:srgbClr val="142B49"/>
          </a:solidFill>
          <a:ln>
            <a:solidFill>
              <a:srgbClr val="142B4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1188720" y="4919472"/>
            <a:ext cx="9692640" cy="310896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>
              <a:spcAft>
                <a:spcPts val="0"/>
              </a:spcAft>
              <a:defRPr sz="1700" b="1" i="0">
                <a:solidFill>
                  <a:srgbClr val="FFFFFF"/>
                </a:solidFill>
                <a:latin typeface="Aptos"/>
              </a:defRPr>
            </a:pPr>
            <a:r>
              <a:t>Evidence to capture: pytest -v output showing the test cases passing.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EF5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20040"/>
            <a:ext cx="10972800" cy="5029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  <a:defRPr sz="2700" b="1" i="0">
                <a:solidFill>
                  <a:srgbClr val="0C1C34"/>
                </a:solidFill>
                <a:latin typeface="Aptos"/>
              </a:defRPr>
            </a:pPr>
            <a:r>
              <a:t>Docker and local development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868680"/>
            <a:ext cx="10881360" cy="34747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  <a:defRPr sz="1200" b="0" i="0">
                <a:solidFill>
                  <a:srgbClr val="607385"/>
                </a:solidFill>
                <a:latin typeface="Aptos"/>
              </a:defRPr>
            </a:pPr>
            <a:r>
              <a:t>A consistent environment reduces setup differences between machines</a:t>
            </a:r>
          </a:p>
        </p:txBody>
      </p:sp>
      <p:sp>
        <p:nvSpPr>
          <p:cNvPr id="4" name="Rectangle 3"/>
          <p:cNvSpPr/>
          <p:nvPr/>
        </p:nvSpPr>
        <p:spPr>
          <a:xfrm>
            <a:off x="621792" y="1298448"/>
            <a:ext cx="713232" cy="50292"/>
          </a:xfrm>
          <a:prstGeom prst="rect">
            <a:avLst/>
          </a:prstGeom>
          <a:solidFill>
            <a:srgbClr val="30BECD"/>
          </a:solidFill>
          <a:ln>
            <a:solidFill>
              <a:srgbClr val="30BE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1201400" y="6510528"/>
            <a:ext cx="411480" cy="16459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r">
              <a:spcAft>
                <a:spcPts val="0"/>
              </a:spcAft>
              <a:defRPr sz="900" b="0" i="0">
                <a:solidFill>
                  <a:srgbClr val="607385"/>
                </a:solidFill>
                <a:latin typeface="Aptos"/>
              </a:defRPr>
            </a:pPr>
            <a:r>
              <a:t>10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691640"/>
            <a:ext cx="3429000" cy="196596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731520" y="1691640"/>
            <a:ext cx="64008" cy="1965960"/>
          </a:xfrm>
          <a:prstGeom prst="rect">
            <a:avLst/>
          </a:prstGeom>
          <a:solidFill>
            <a:srgbClr val="2A71BE"/>
          </a:solidFill>
          <a:ln>
            <a:solidFill>
              <a:srgbClr val="2A71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932688" y="1856232"/>
            <a:ext cx="3081528" cy="329184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  <a:defRPr sz="1700" b="1" i="0">
                <a:solidFill>
                  <a:srgbClr val="0C1C34"/>
                </a:solidFill>
                <a:latin typeface="Aptos"/>
              </a:defRPr>
            </a:pPr>
            <a:r>
              <a:rPr dirty="0"/>
              <a:t>Frontend image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32688" y="2286000"/>
            <a:ext cx="3063240" cy="1271016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  <a:defRPr sz="1300" b="0" i="0">
                <a:solidFill>
                  <a:srgbClr val="607385"/>
                </a:solidFill>
                <a:latin typeface="Aptos"/>
              </a:defRPr>
            </a:pPr>
            <a:r>
              <a:t>Multi-stage build: Node compiles the Vite app; Nginx serves the static output.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89120" y="1691640"/>
            <a:ext cx="3429000" cy="196596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4389120" y="1691640"/>
            <a:ext cx="64008" cy="1965960"/>
          </a:xfrm>
          <a:prstGeom prst="rect">
            <a:avLst/>
          </a:prstGeom>
          <a:solidFill>
            <a:srgbClr val="30BECD"/>
          </a:solidFill>
          <a:ln>
            <a:solidFill>
              <a:srgbClr val="30BE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590288" y="1856232"/>
            <a:ext cx="3081528" cy="329184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  <a:defRPr sz="1700" b="1" i="0">
                <a:solidFill>
                  <a:srgbClr val="0C1C34"/>
                </a:solidFill>
                <a:latin typeface="Aptos"/>
              </a:defRPr>
            </a:pPr>
            <a:r>
              <a:t>Backend image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90288" y="2286000"/>
            <a:ext cx="3063240" cy="1271016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  <a:defRPr sz="1300" b="0" i="0">
                <a:solidFill>
                  <a:srgbClr val="607385"/>
                </a:solidFill>
                <a:latin typeface="Aptos"/>
              </a:defRPr>
            </a:pPr>
            <a:r>
              <a:t>Python runtime installs dependencies and starts the FastAPI application.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46720" y="1691640"/>
            <a:ext cx="3429000" cy="196596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8046720" y="1691640"/>
            <a:ext cx="64008" cy="1965960"/>
          </a:xfrm>
          <a:prstGeom prst="rect">
            <a:avLst/>
          </a:prstGeom>
          <a:solidFill>
            <a:srgbClr val="2A9B73"/>
          </a:solidFill>
          <a:ln>
            <a:solidFill>
              <a:srgbClr val="2A9B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8247888" y="1856232"/>
            <a:ext cx="3081528" cy="329184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  <a:defRPr sz="1700" b="1" i="0">
                <a:solidFill>
                  <a:srgbClr val="0C1C34"/>
                </a:solidFill>
                <a:latin typeface="Aptos"/>
              </a:defRPr>
            </a:pPr>
            <a:r>
              <a:t>Compose stack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47888" y="2286000"/>
            <a:ext cx="3063240" cy="1271016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  <a:defRPr sz="1300" b="0" i="0">
                <a:solidFill>
                  <a:srgbClr val="607385"/>
                </a:solidFill>
                <a:latin typeface="Aptos"/>
              </a:defRPr>
            </a:pPr>
            <a:r>
              <a:t>Runs frontend, backend and PostgreSQL together on a developer machine.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4400" y="4160520"/>
            <a:ext cx="4572000" cy="32004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  <a:defRPr sz="1800" b="1" i="0">
                <a:solidFill>
                  <a:srgbClr val="0C1C34"/>
                </a:solidFill>
                <a:latin typeface="Aptos"/>
              </a:defRPr>
            </a:pPr>
            <a:r>
              <a:t>Start the application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14400" y="4572000"/>
            <a:ext cx="5486400" cy="658368"/>
          </a:xfrm>
          <a:prstGeom prst="roundRect">
            <a:avLst>
              <a:gd name="adj" fmla="val 12000"/>
            </a:avLst>
          </a:prstGeom>
          <a:solidFill>
            <a:srgbClr val="142B49"/>
          </a:solidFill>
          <a:ln>
            <a:solidFill>
              <a:srgbClr val="142B4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1143000" y="4736592"/>
            <a:ext cx="5029200" cy="2743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  <a:defRPr sz="1700" b="1" i="0">
                <a:solidFill>
                  <a:srgbClr val="FFFFFF"/>
                </a:solidFill>
                <a:latin typeface="Consolas"/>
              </a:defRPr>
            </a:pPr>
            <a:r>
              <a:t>docker compose up --build -d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903720" y="4526280"/>
            <a:ext cx="3931920" cy="77724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  <a:defRPr sz="1400" b="0" i="0">
                <a:solidFill>
                  <a:srgbClr val="607385"/>
                </a:solidFill>
                <a:latin typeface="Aptos"/>
              </a:defRPr>
            </a:pPr>
            <a:r>
              <a:t>Non-root runtime users and a smaller production frontend image reduce unnecessary privilege and image contents.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EF5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20040"/>
            <a:ext cx="10972800" cy="5029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  <a:defRPr sz="2700" b="1" i="0">
                <a:solidFill>
                  <a:srgbClr val="0C1C34"/>
                </a:solidFill>
                <a:latin typeface="Aptos"/>
              </a:defRPr>
            </a:pPr>
            <a:r>
              <a:t>CI/CD and DevSecOps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868680"/>
            <a:ext cx="10881360" cy="34747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  <a:defRPr sz="1200" b="0" i="0">
                <a:solidFill>
                  <a:srgbClr val="607385"/>
                </a:solidFill>
                <a:latin typeface="Aptos"/>
              </a:defRPr>
            </a:pPr>
            <a:r>
              <a:t>A commit should be tested, built, scanned and traceably published</a:t>
            </a:r>
          </a:p>
        </p:txBody>
      </p:sp>
      <p:sp>
        <p:nvSpPr>
          <p:cNvPr id="4" name="Rectangle 3"/>
          <p:cNvSpPr/>
          <p:nvPr/>
        </p:nvSpPr>
        <p:spPr>
          <a:xfrm>
            <a:off x="621792" y="1298448"/>
            <a:ext cx="713232" cy="50292"/>
          </a:xfrm>
          <a:prstGeom prst="rect">
            <a:avLst/>
          </a:prstGeom>
          <a:solidFill>
            <a:srgbClr val="30BECD"/>
          </a:solidFill>
          <a:ln>
            <a:solidFill>
              <a:srgbClr val="30BE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1201400" y="6510528"/>
            <a:ext cx="411480" cy="16459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r">
              <a:spcAft>
                <a:spcPts val="0"/>
              </a:spcAft>
              <a:defRPr sz="900" b="0" i="0">
                <a:solidFill>
                  <a:srgbClr val="607385"/>
                </a:solidFill>
                <a:latin typeface="Aptos"/>
              </a:defRPr>
            </a:pPr>
            <a:r>
              <a:t>11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1874519"/>
            <a:ext cx="2423160" cy="132588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D7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685800" y="1874519"/>
            <a:ext cx="2423160" cy="109728"/>
          </a:xfrm>
          <a:prstGeom prst="rect">
            <a:avLst/>
          </a:prstGeom>
          <a:solidFill>
            <a:srgbClr val="2A71BE"/>
          </a:solidFill>
          <a:ln>
            <a:solidFill>
              <a:srgbClr val="2A71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22960" y="2148840"/>
            <a:ext cx="2148840" cy="29260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>
              <a:spcAft>
                <a:spcPts val="0"/>
              </a:spcAft>
              <a:defRPr sz="1700" b="1" i="0">
                <a:solidFill>
                  <a:srgbClr val="0C1C34"/>
                </a:solidFill>
                <a:latin typeface="Aptos"/>
              </a:defRPr>
            </a:pPr>
            <a:r>
              <a:t>TEST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50392" y="2578608"/>
            <a:ext cx="2103120" cy="43891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>
              <a:spcAft>
                <a:spcPts val="0"/>
              </a:spcAft>
              <a:defRPr sz="1200" b="0" i="0">
                <a:solidFill>
                  <a:srgbClr val="607385"/>
                </a:solidFill>
                <a:latin typeface="Aptos"/>
              </a:defRPr>
            </a:pPr>
            <a:r>
              <a:t>pytest + frontend build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3136392" y="2514600"/>
            <a:ext cx="320040" cy="0"/>
          </a:xfrm>
          <a:prstGeom prst="line">
            <a:avLst/>
          </a:prstGeom>
          <a:ln w="25400">
            <a:solidFill>
              <a:srgbClr val="2A71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3566160" y="1874519"/>
            <a:ext cx="2423160" cy="132588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D7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3566160" y="1874519"/>
            <a:ext cx="2423160" cy="109728"/>
          </a:xfrm>
          <a:prstGeom prst="rect">
            <a:avLst/>
          </a:prstGeom>
          <a:solidFill>
            <a:srgbClr val="30BECD"/>
          </a:solidFill>
          <a:ln>
            <a:solidFill>
              <a:srgbClr val="30BE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3703320" y="2148840"/>
            <a:ext cx="2148840" cy="29260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>
              <a:spcAft>
                <a:spcPts val="0"/>
              </a:spcAft>
              <a:defRPr sz="1700" b="1" i="0">
                <a:solidFill>
                  <a:srgbClr val="0C1C34"/>
                </a:solidFill>
                <a:latin typeface="Aptos"/>
              </a:defRPr>
            </a:pPr>
            <a:r>
              <a:t>BUILD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730752" y="2578608"/>
            <a:ext cx="2103120" cy="43891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>
              <a:spcAft>
                <a:spcPts val="0"/>
              </a:spcAft>
              <a:defRPr sz="1200" b="0" i="0">
                <a:solidFill>
                  <a:srgbClr val="607385"/>
                </a:solidFill>
                <a:latin typeface="Aptos"/>
              </a:defRPr>
            </a:pPr>
            <a:r>
              <a:t>frontend + backend images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6016752" y="2514600"/>
            <a:ext cx="320040" cy="0"/>
          </a:xfrm>
          <a:prstGeom prst="line">
            <a:avLst/>
          </a:prstGeom>
          <a:ln w="25400">
            <a:solidFill>
              <a:srgbClr val="2A71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ounded Rectangle 15"/>
          <p:cNvSpPr/>
          <p:nvPr/>
        </p:nvSpPr>
        <p:spPr>
          <a:xfrm>
            <a:off x="6446520" y="1874519"/>
            <a:ext cx="2423160" cy="132588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D7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6446520" y="1874519"/>
            <a:ext cx="2423160" cy="109728"/>
          </a:xfrm>
          <a:prstGeom prst="rect">
            <a:avLst/>
          </a:prstGeom>
          <a:solidFill>
            <a:srgbClr val="E19B31"/>
          </a:solidFill>
          <a:ln>
            <a:solidFill>
              <a:srgbClr val="E19B3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6583680" y="2148840"/>
            <a:ext cx="2148840" cy="29260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>
              <a:spcAft>
                <a:spcPts val="0"/>
              </a:spcAft>
              <a:defRPr sz="1700" b="1" i="0">
                <a:solidFill>
                  <a:srgbClr val="0C1C34"/>
                </a:solidFill>
                <a:latin typeface="Aptos"/>
              </a:defRPr>
            </a:pPr>
            <a:r>
              <a:t>SCAN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611112" y="2578608"/>
            <a:ext cx="2103120" cy="43891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>
              <a:spcAft>
                <a:spcPts val="0"/>
              </a:spcAft>
              <a:defRPr sz="1200" b="0" i="0">
                <a:solidFill>
                  <a:srgbClr val="607385"/>
                </a:solidFill>
                <a:latin typeface="Aptos"/>
              </a:defRPr>
            </a:pPr>
            <a:r>
              <a:t>Trivy vulnerability checks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8897112" y="2514600"/>
            <a:ext cx="320040" cy="0"/>
          </a:xfrm>
          <a:prstGeom prst="line">
            <a:avLst/>
          </a:prstGeom>
          <a:ln w="25400">
            <a:solidFill>
              <a:srgbClr val="2A71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Rounded Rectangle 20"/>
          <p:cNvSpPr/>
          <p:nvPr/>
        </p:nvSpPr>
        <p:spPr>
          <a:xfrm>
            <a:off x="9326880" y="1874519"/>
            <a:ext cx="2423160" cy="132588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D7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9326880" y="1874519"/>
            <a:ext cx="2423160" cy="109728"/>
          </a:xfrm>
          <a:prstGeom prst="rect">
            <a:avLst/>
          </a:prstGeom>
          <a:solidFill>
            <a:srgbClr val="2A9B73"/>
          </a:solidFill>
          <a:ln>
            <a:solidFill>
              <a:srgbClr val="2A9B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9464040" y="2148840"/>
            <a:ext cx="2148840" cy="29260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>
              <a:spcAft>
                <a:spcPts val="0"/>
              </a:spcAft>
              <a:defRPr sz="1700" b="1" i="0">
                <a:solidFill>
                  <a:srgbClr val="0C1C34"/>
                </a:solidFill>
                <a:latin typeface="Aptos"/>
              </a:defRPr>
            </a:pPr>
            <a:r>
              <a:t>PUBLISH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491472" y="2578608"/>
            <a:ext cx="2103120" cy="43891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>
              <a:spcAft>
                <a:spcPts val="0"/>
              </a:spcAft>
              <a:defRPr sz="1200" b="0" i="0">
                <a:solidFill>
                  <a:srgbClr val="607385"/>
                </a:solidFill>
                <a:latin typeface="Aptos"/>
              </a:defRPr>
            </a:pPr>
            <a:r>
              <a:t>GHCR with commit-SHA tags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68680" y="3794760"/>
            <a:ext cx="4846320" cy="34747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  <a:defRPr sz="1800" b="1" i="0">
                <a:solidFill>
                  <a:srgbClr val="0C1C34"/>
                </a:solidFill>
                <a:latin typeface="Aptos"/>
              </a:defRPr>
            </a:pPr>
            <a:r>
              <a:t>Why SHA-based tags?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68680" y="4224528"/>
            <a:ext cx="4754880" cy="100584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  <a:defRPr sz="1500" b="0" i="0">
                <a:solidFill>
                  <a:srgbClr val="607385"/>
                </a:solidFill>
                <a:latin typeface="Aptos"/>
              </a:defRPr>
            </a:pPr>
            <a:r>
              <a:t>Each image can be traced to the exact source commit that produced it, supporting repeatable releases and rollbacks.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217920" y="3794760"/>
            <a:ext cx="4846320" cy="34747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  <a:defRPr sz="1800" b="1" i="0">
                <a:solidFill>
                  <a:srgbClr val="0C1C34"/>
                </a:solidFill>
                <a:latin typeface="Aptos"/>
              </a:defRPr>
            </a:pPr>
            <a:r>
              <a:t>What Trivy contributes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217920" y="4224528"/>
            <a:ext cx="4754880" cy="100584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  <a:defRPr sz="1500" b="0" i="0">
                <a:solidFill>
                  <a:srgbClr val="607385"/>
                </a:solidFill>
                <a:latin typeface="Aptos"/>
              </a:defRPr>
            </a:pPr>
            <a:r>
              <a:t>Scans container images for known vulnerabilities. A HIGH/CRITICAL failure should trigger investigation and remediation, not simply be bypassed.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EF5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20040"/>
            <a:ext cx="10972800" cy="5029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  <a:defRPr sz="2700" b="1" i="0">
                <a:solidFill>
                  <a:srgbClr val="0C1C34"/>
                </a:solidFill>
                <a:latin typeface="Aptos"/>
              </a:defRPr>
            </a:pPr>
            <a:r>
              <a:t>Infrastructure as Code with Terraform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868680"/>
            <a:ext cx="10881360" cy="34747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  <a:defRPr sz="1200" b="0" i="0">
                <a:solidFill>
                  <a:srgbClr val="607385"/>
                </a:solidFill>
                <a:latin typeface="Aptos"/>
              </a:defRPr>
            </a:pPr>
            <a:r>
              <a:t>Provision cloud infrastructure from reviewed configuration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621792" y="1298448"/>
            <a:ext cx="713232" cy="50292"/>
          </a:xfrm>
          <a:prstGeom prst="rect">
            <a:avLst/>
          </a:prstGeom>
          <a:solidFill>
            <a:srgbClr val="30BECD"/>
          </a:solidFill>
          <a:ln>
            <a:solidFill>
              <a:srgbClr val="30BE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1201400" y="6510528"/>
            <a:ext cx="411480" cy="16459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r">
              <a:spcAft>
                <a:spcPts val="0"/>
              </a:spcAft>
              <a:defRPr sz="900" b="0" i="0">
                <a:solidFill>
                  <a:srgbClr val="607385"/>
                </a:solidFill>
                <a:latin typeface="Aptos"/>
              </a:defRPr>
            </a:pPr>
            <a:r>
              <a:t>12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14400" y="1828800"/>
            <a:ext cx="2103120" cy="82296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D7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914400" y="1828800"/>
            <a:ext cx="2103120" cy="91440"/>
          </a:xfrm>
          <a:prstGeom prst="rect">
            <a:avLst/>
          </a:prstGeom>
          <a:solidFill>
            <a:srgbClr val="2A71BE"/>
          </a:solidFill>
          <a:ln>
            <a:solidFill>
              <a:srgbClr val="2A71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005840" y="2048256"/>
            <a:ext cx="1920239" cy="237744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>
              <a:spcAft>
                <a:spcPts val="0"/>
              </a:spcAft>
              <a:defRPr sz="1500" b="1" i="0">
                <a:solidFill>
                  <a:srgbClr val="0C1C34"/>
                </a:solidFill>
                <a:latin typeface="Aptos"/>
              </a:defRPr>
            </a:pPr>
            <a:r>
              <a:t>AWS VPC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" y="2340864"/>
            <a:ext cx="1920239" cy="18288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>
              <a:spcAft>
                <a:spcPts val="0"/>
              </a:spcAft>
              <a:defRPr sz="1000" b="0" i="0">
                <a:solidFill>
                  <a:srgbClr val="607385"/>
                </a:solidFill>
                <a:latin typeface="Aptos"/>
              </a:defRPr>
            </a:pPr>
            <a:r>
              <a:t>Network boundary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657600" y="1828800"/>
            <a:ext cx="2103120" cy="82296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D7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3657600" y="1828800"/>
            <a:ext cx="2103120" cy="91440"/>
          </a:xfrm>
          <a:prstGeom prst="rect">
            <a:avLst/>
          </a:prstGeom>
          <a:solidFill>
            <a:srgbClr val="30BECD"/>
          </a:solidFill>
          <a:ln>
            <a:solidFill>
              <a:srgbClr val="30BE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3749039" y="2048256"/>
            <a:ext cx="1920239" cy="237744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>
              <a:spcAft>
                <a:spcPts val="0"/>
              </a:spcAft>
              <a:defRPr sz="1500" b="1" i="0">
                <a:solidFill>
                  <a:srgbClr val="0C1C34"/>
                </a:solidFill>
                <a:latin typeface="Aptos"/>
              </a:defRPr>
            </a:pPr>
            <a:r>
              <a:t>Subnets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749039" y="2340864"/>
            <a:ext cx="1920239" cy="18288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>
              <a:spcAft>
                <a:spcPts val="0"/>
              </a:spcAft>
              <a:defRPr sz="1000" b="0" i="0">
                <a:solidFill>
                  <a:srgbClr val="607385"/>
                </a:solidFill>
                <a:latin typeface="Aptos"/>
              </a:defRPr>
            </a:pPr>
            <a:r>
              <a:t>Public + private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0" y="1828800"/>
            <a:ext cx="2103120" cy="82296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D7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6400800" y="1828800"/>
            <a:ext cx="2103120" cy="91440"/>
          </a:xfrm>
          <a:prstGeom prst="rect">
            <a:avLst/>
          </a:prstGeom>
          <a:solidFill>
            <a:srgbClr val="2A9B73"/>
          </a:solidFill>
          <a:ln>
            <a:solidFill>
              <a:srgbClr val="2A9B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492240" y="2048256"/>
            <a:ext cx="1920239" cy="237744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>
              <a:spcAft>
                <a:spcPts val="0"/>
              </a:spcAft>
              <a:defRPr sz="1500" b="1" i="0">
                <a:solidFill>
                  <a:srgbClr val="0C1C34"/>
                </a:solidFill>
                <a:latin typeface="Aptos"/>
              </a:defRPr>
            </a:pPr>
            <a:r>
              <a:t>EKS cluster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92240" y="2340864"/>
            <a:ext cx="1920239" cy="18288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>
              <a:spcAft>
                <a:spcPts val="0"/>
              </a:spcAft>
              <a:defRPr sz="1000" b="0" i="0">
                <a:solidFill>
                  <a:srgbClr val="607385"/>
                </a:solidFill>
                <a:latin typeface="Aptos"/>
              </a:defRPr>
            </a:pPr>
            <a:r>
              <a:t>Kubernetes control plane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144000" y="1828800"/>
            <a:ext cx="2103120" cy="82296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D7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9144000" y="1828800"/>
            <a:ext cx="2103120" cy="91440"/>
          </a:xfrm>
          <a:prstGeom prst="rect">
            <a:avLst/>
          </a:prstGeom>
          <a:solidFill>
            <a:srgbClr val="E19B31"/>
          </a:solidFill>
          <a:ln>
            <a:solidFill>
              <a:srgbClr val="E19B3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9235440" y="2048256"/>
            <a:ext cx="1920239" cy="237744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>
              <a:spcAft>
                <a:spcPts val="0"/>
              </a:spcAft>
              <a:defRPr sz="1500" b="1" i="0">
                <a:solidFill>
                  <a:srgbClr val="0C1C34"/>
                </a:solidFill>
                <a:latin typeface="Aptos"/>
              </a:defRPr>
            </a:pPr>
            <a:r>
              <a:t>Node group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235440" y="2340864"/>
            <a:ext cx="1920239" cy="18288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>
              <a:spcAft>
                <a:spcPts val="0"/>
              </a:spcAft>
              <a:defRPr sz="1000" b="0" i="0">
                <a:solidFill>
                  <a:srgbClr val="607385"/>
                </a:solidFill>
                <a:latin typeface="Aptos"/>
              </a:defRPr>
            </a:pPr>
            <a:r>
              <a:t>Worker capacity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3017520" y="2240280"/>
            <a:ext cx="640080" cy="0"/>
          </a:xfrm>
          <a:prstGeom prst="line">
            <a:avLst/>
          </a:prstGeom>
          <a:ln w="25400">
            <a:solidFill>
              <a:srgbClr val="2A71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5760720" y="2240280"/>
            <a:ext cx="640080" cy="0"/>
          </a:xfrm>
          <a:prstGeom prst="line">
            <a:avLst/>
          </a:prstGeom>
          <a:ln w="25400">
            <a:solidFill>
              <a:srgbClr val="2A71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8503920" y="2240280"/>
            <a:ext cx="640080" cy="0"/>
          </a:xfrm>
          <a:prstGeom prst="line">
            <a:avLst/>
          </a:prstGeom>
          <a:ln w="25400">
            <a:solidFill>
              <a:srgbClr val="2A71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TextBox 24"/>
          <p:cNvSpPr txBox="1"/>
          <p:nvPr/>
        </p:nvSpPr>
        <p:spPr>
          <a:xfrm>
            <a:off x="914400" y="3429000"/>
            <a:ext cx="4572000" cy="32004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  <a:defRPr sz="1800" b="1" i="0">
                <a:solidFill>
                  <a:srgbClr val="0C1C34"/>
                </a:solidFill>
                <a:latin typeface="Aptos"/>
              </a:defRPr>
            </a:pPr>
            <a:r>
              <a:t>Typical workflow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914400" y="3886200"/>
            <a:ext cx="4800600" cy="640080"/>
          </a:xfrm>
          <a:prstGeom prst="roundRect">
            <a:avLst>
              <a:gd name="adj" fmla="val 12000"/>
            </a:avLst>
          </a:prstGeom>
          <a:solidFill>
            <a:srgbClr val="142B49"/>
          </a:solidFill>
          <a:ln>
            <a:solidFill>
              <a:srgbClr val="142B4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1115568" y="4069080"/>
            <a:ext cx="4389120" cy="25603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  <a:defRPr sz="1500" b="1" i="0">
                <a:solidFill>
                  <a:srgbClr val="FFFFFF"/>
                </a:solidFill>
                <a:latin typeface="Consolas"/>
              </a:defRPr>
            </a:pPr>
            <a:r>
              <a:t>terraform init  →  plan  →  apply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217920" y="3429000"/>
            <a:ext cx="4572000" cy="32004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  <a:defRPr sz="1800" b="1" i="0">
                <a:solidFill>
                  <a:srgbClr val="0C1C34"/>
                </a:solidFill>
                <a:latin typeface="Aptos"/>
              </a:defRPr>
            </a:pPr>
            <a:r>
              <a:t>Cost and security controls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217920" y="3886200"/>
            <a:ext cx="4663440" cy="91440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  <a:defRPr sz="1400" b="0" i="0">
                <a:solidFill>
                  <a:srgbClr val="607385"/>
                </a:solidFill>
                <a:latin typeface="Aptos"/>
              </a:defRPr>
            </a:pPr>
            <a:r>
              <a:t>Keep credentials out of Git, restrict cluster access, review the plan and run terraform destroy after the demonstration to avoid ongoing charges.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EF5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20040"/>
            <a:ext cx="10972800" cy="5029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  <a:defRPr sz="2700" b="1" i="0">
                <a:solidFill>
                  <a:srgbClr val="0C1C34"/>
                </a:solidFill>
                <a:latin typeface="Aptos"/>
              </a:defRPr>
            </a:pPr>
            <a:r>
              <a:t>Kubernetes, Helm, Ingress and HPA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868680"/>
            <a:ext cx="10881360" cy="34747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  <a:defRPr sz="1200" b="0" i="0">
                <a:solidFill>
                  <a:srgbClr val="607385"/>
                </a:solidFill>
                <a:latin typeface="Aptos"/>
              </a:defRPr>
            </a:pPr>
            <a:r>
              <a:t>Run and operate the application using declarative workload configuration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621792" y="1298448"/>
            <a:ext cx="713232" cy="50292"/>
          </a:xfrm>
          <a:prstGeom prst="rect">
            <a:avLst/>
          </a:prstGeom>
          <a:solidFill>
            <a:srgbClr val="30BECD"/>
          </a:solidFill>
          <a:ln>
            <a:solidFill>
              <a:srgbClr val="30BE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1201400" y="6510528"/>
            <a:ext cx="411480" cy="16459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r">
              <a:spcAft>
                <a:spcPts val="0"/>
              </a:spcAft>
              <a:defRPr sz="900" b="0" i="0">
                <a:solidFill>
                  <a:srgbClr val="607385"/>
                </a:solidFill>
                <a:latin typeface="Aptos"/>
              </a:defRPr>
            </a:pPr>
            <a:r>
              <a:t>13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645920"/>
            <a:ext cx="2606040" cy="210312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731520" y="1645920"/>
            <a:ext cx="64008" cy="2103120"/>
          </a:xfrm>
          <a:prstGeom prst="rect">
            <a:avLst/>
          </a:prstGeom>
          <a:solidFill>
            <a:srgbClr val="2A71BE"/>
          </a:solidFill>
          <a:ln>
            <a:solidFill>
              <a:srgbClr val="2A71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932688" y="1810512"/>
            <a:ext cx="2258568" cy="329184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  <a:defRPr sz="1700" b="1" i="0">
                <a:solidFill>
                  <a:srgbClr val="0C1C34"/>
                </a:solidFill>
                <a:latin typeface="Aptos"/>
              </a:defRPr>
            </a:pPr>
            <a:r>
              <a:t>Deployments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32688" y="2240280"/>
            <a:ext cx="2240280" cy="1408175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  <a:defRPr sz="1300" b="0" i="0">
                <a:solidFill>
                  <a:srgbClr val="607385"/>
                </a:solidFill>
                <a:latin typeface="Aptos"/>
              </a:defRPr>
            </a:pPr>
            <a:r>
              <a:t>Manage desired replicas and replace failed Pods.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520440" y="1645920"/>
            <a:ext cx="2606040" cy="210312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3520440" y="1645920"/>
            <a:ext cx="64008" cy="2103120"/>
          </a:xfrm>
          <a:prstGeom prst="rect">
            <a:avLst/>
          </a:prstGeom>
          <a:solidFill>
            <a:srgbClr val="30BECD"/>
          </a:solidFill>
          <a:ln>
            <a:solidFill>
              <a:srgbClr val="30BE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3721608" y="1810512"/>
            <a:ext cx="2258568" cy="329184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  <a:defRPr sz="1700" b="1" i="0">
                <a:solidFill>
                  <a:srgbClr val="0C1C34"/>
                </a:solidFill>
                <a:latin typeface="Aptos"/>
              </a:defRPr>
            </a:pPr>
            <a:r>
              <a:t>Services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721608" y="2240280"/>
            <a:ext cx="2240280" cy="1408175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  <a:defRPr sz="1300" b="0" i="0">
                <a:solidFill>
                  <a:srgbClr val="607385"/>
                </a:solidFill>
                <a:latin typeface="Aptos"/>
              </a:defRPr>
            </a:pPr>
            <a:r>
              <a:t>Provide stable networking to matching Pods.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309360" y="1645920"/>
            <a:ext cx="2606040" cy="210312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6309360" y="1645920"/>
            <a:ext cx="64008" cy="2103120"/>
          </a:xfrm>
          <a:prstGeom prst="rect">
            <a:avLst/>
          </a:prstGeom>
          <a:solidFill>
            <a:srgbClr val="2A9B73"/>
          </a:solidFill>
          <a:ln>
            <a:solidFill>
              <a:srgbClr val="2A9B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510528" y="1810512"/>
            <a:ext cx="2258568" cy="329184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  <a:defRPr sz="1700" b="1" i="0">
                <a:solidFill>
                  <a:srgbClr val="0C1C34"/>
                </a:solidFill>
                <a:latin typeface="Aptos"/>
              </a:defRPr>
            </a:pPr>
            <a:r>
              <a:t>Ingress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10528" y="2240280"/>
            <a:ext cx="2240280" cy="1408175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  <a:defRPr sz="1300" b="0" i="0">
                <a:solidFill>
                  <a:srgbClr val="607385"/>
                </a:solidFill>
                <a:latin typeface="Aptos"/>
              </a:defRPr>
            </a:pPr>
            <a:r>
              <a:t>Route browser traffic to frontend and API paths.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098280" y="1645920"/>
            <a:ext cx="2331720" cy="210312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9098280" y="1645920"/>
            <a:ext cx="64008" cy="2103120"/>
          </a:xfrm>
          <a:prstGeom prst="rect">
            <a:avLst/>
          </a:prstGeom>
          <a:solidFill>
            <a:srgbClr val="E19B31"/>
          </a:solidFill>
          <a:ln>
            <a:solidFill>
              <a:srgbClr val="E19B3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9299448" y="1810512"/>
            <a:ext cx="1984248" cy="329184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  <a:defRPr sz="1700" b="1" i="0">
                <a:solidFill>
                  <a:srgbClr val="0C1C34"/>
                </a:solidFill>
                <a:latin typeface="Aptos"/>
              </a:defRPr>
            </a:pPr>
            <a:r>
              <a:t>HPA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299448" y="2240280"/>
            <a:ext cx="1965960" cy="1408175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  <a:defRPr sz="1300" b="0" i="0">
                <a:solidFill>
                  <a:srgbClr val="607385"/>
                </a:solidFill>
                <a:latin typeface="Aptos"/>
              </a:defRPr>
            </a:pPr>
            <a:r>
              <a:t>Adjust replica count using metrics and resource requests.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14400" y="4251960"/>
            <a:ext cx="10058400" cy="32004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  <a:defRPr sz="1800" b="1" i="0">
                <a:solidFill>
                  <a:srgbClr val="0C1C34"/>
                </a:solidFill>
                <a:latin typeface="Aptos"/>
              </a:defRPr>
            </a:pPr>
            <a:r>
              <a:t>Helm packages the configuration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14400" y="4663440"/>
            <a:ext cx="10058400" cy="7315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  <a:defRPr sz="1500" b="0" i="0">
                <a:solidFill>
                  <a:srgbClr val="607385"/>
                </a:solidFill>
                <a:latin typeface="Aptos"/>
              </a:defRPr>
            </a:pPr>
            <a:r>
              <a:t>Chart templates and values make deployments repeatable across environments. Ingress needs a controller, and HPA needs a working metrics provider such as Metrics Server.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914400" y="5577840"/>
            <a:ext cx="6583680" cy="502920"/>
          </a:xfrm>
          <a:prstGeom prst="roundRect">
            <a:avLst>
              <a:gd name="adj" fmla="val 12000"/>
            </a:avLst>
          </a:prstGeom>
          <a:solidFill>
            <a:srgbClr val="142B49"/>
          </a:solidFill>
          <a:ln>
            <a:solidFill>
              <a:srgbClr val="142B4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1097280" y="5696712"/>
            <a:ext cx="6217920" cy="22860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  <a:defRPr sz="1300" b="1" i="0">
                <a:solidFill>
                  <a:srgbClr val="FFFFFF"/>
                </a:solidFill>
                <a:latin typeface="Consolas"/>
              </a:defRPr>
            </a:pPr>
            <a:r>
              <a:t>helm upgrade --install resolvehub ./helm/resolvehub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EF5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20040"/>
            <a:ext cx="10972800" cy="5029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  <a:defRPr sz="2700" b="1" i="0">
                <a:solidFill>
                  <a:srgbClr val="0C1C34"/>
                </a:solidFill>
                <a:latin typeface="Aptos"/>
              </a:defRPr>
            </a:pPr>
            <a:r>
              <a:t>Observability: Prometheus and Grafana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868680"/>
            <a:ext cx="10881360" cy="34747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  <a:defRPr sz="1200" b="0" i="0">
                <a:solidFill>
                  <a:srgbClr val="607385"/>
                </a:solidFill>
                <a:latin typeface="Aptos"/>
              </a:defRPr>
            </a:pPr>
            <a:r>
              <a:t>Collect application telemetry and turn it into useful operational views</a:t>
            </a:r>
          </a:p>
        </p:txBody>
      </p:sp>
      <p:sp>
        <p:nvSpPr>
          <p:cNvPr id="4" name="Rectangle 3"/>
          <p:cNvSpPr/>
          <p:nvPr/>
        </p:nvSpPr>
        <p:spPr>
          <a:xfrm>
            <a:off x="621792" y="1298448"/>
            <a:ext cx="713232" cy="50292"/>
          </a:xfrm>
          <a:prstGeom prst="rect">
            <a:avLst/>
          </a:prstGeom>
          <a:solidFill>
            <a:srgbClr val="30BECD"/>
          </a:solidFill>
          <a:ln>
            <a:solidFill>
              <a:srgbClr val="30BE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1201400" y="6510528"/>
            <a:ext cx="411480" cy="16459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r">
              <a:spcAft>
                <a:spcPts val="0"/>
              </a:spcAft>
              <a:defRPr sz="900" b="0" i="0">
                <a:solidFill>
                  <a:srgbClr val="607385"/>
                </a:solidFill>
                <a:latin typeface="Aptos"/>
              </a:defRPr>
            </a:pPr>
            <a:r>
              <a:t>14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" y="1828800"/>
            <a:ext cx="3108960" cy="196596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822960" y="1828800"/>
            <a:ext cx="64008" cy="1965960"/>
          </a:xfrm>
          <a:prstGeom prst="rect">
            <a:avLst/>
          </a:prstGeom>
          <a:solidFill>
            <a:srgbClr val="2A71BE"/>
          </a:solidFill>
          <a:ln>
            <a:solidFill>
              <a:srgbClr val="2A71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024128" y="1993392"/>
            <a:ext cx="2761488" cy="329184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  <a:defRPr sz="1700" b="1" i="0">
                <a:solidFill>
                  <a:srgbClr val="0C1C34"/>
                </a:solidFill>
                <a:latin typeface="Aptos"/>
              </a:defRPr>
            </a:pPr>
            <a:r>
              <a:t>FastAPI /metrics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24128" y="2423160"/>
            <a:ext cx="2743200" cy="1271016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  <a:defRPr sz="1300" b="0" i="0">
                <a:solidFill>
                  <a:srgbClr val="607385"/>
                </a:solidFill>
                <a:latin typeface="Aptos"/>
              </a:defRPr>
            </a:pPr>
            <a:r>
              <a:t>Exports request metrics in Prometheus format.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26280" y="1828800"/>
            <a:ext cx="3108960" cy="196596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4526280" y="1828800"/>
            <a:ext cx="64008" cy="1965960"/>
          </a:xfrm>
          <a:prstGeom prst="rect">
            <a:avLst/>
          </a:prstGeom>
          <a:solidFill>
            <a:srgbClr val="30BECD"/>
          </a:solidFill>
          <a:ln>
            <a:solidFill>
              <a:srgbClr val="30BE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727448" y="1993392"/>
            <a:ext cx="2761488" cy="329184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  <a:defRPr sz="1700" b="1" i="0">
                <a:solidFill>
                  <a:srgbClr val="0C1C34"/>
                </a:solidFill>
                <a:latin typeface="Aptos"/>
              </a:defRPr>
            </a:pPr>
            <a:r>
              <a:t>Prometheus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727448" y="2423160"/>
            <a:ext cx="2743200" cy="1271016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  <a:defRPr sz="1300" b="0" i="0">
                <a:solidFill>
                  <a:srgbClr val="607385"/>
                </a:solidFill>
                <a:latin typeface="Aptos"/>
              </a:defRPr>
            </a:pPr>
            <a:r>
              <a:t>Scrapes the backend endpoint and stores time-series data.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229600" y="1828800"/>
            <a:ext cx="3108960" cy="196596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8229600" y="1828800"/>
            <a:ext cx="64008" cy="1965960"/>
          </a:xfrm>
          <a:prstGeom prst="rect">
            <a:avLst/>
          </a:prstGeom>
          <a:solidFill>
            <a:srgbClr val="2A9B73"/>
          </a:solidFill>
          <a:ln>
            <a:solidFill>
              <a:srgbClr val="2A9B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8430768" y="1993392"/>
            <a:ext cx="2761488" cy="329184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  <a:defRPr sz="1700" b="1" i="0">
                <a:solidFill>
                  <a:srgbClr val="0C1C34"/>
                </a:solidFill>
                <a:latin typeface="Aptos"/>
              </a:defRPr>
            </a:pPr>
            <a:r>
              <a:t>Grafana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430768" y="2423160"/>
            <a:ext cx="2743200" cy="1271016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  <a:defRPr sz="1300" b="0" i="0">
                <a:solidFill>
                  <a:srgbClr val="607385"/>
                </a:solidFill>
                <a:latin typeface="Aptos"/>
              </a:defRPr>
            </a:pPr>
            <a:r>
              <a:t>Visualizes request volume, latency and error trends.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3977639" y="2788920"/>
            <a:ext cx="457201" cy="0"/>
          </a:xfrm>
          <a:prstGeom prst="line">
            <a:avLst/>
          </a:prstGeom>
          <a:ln w="25400">
            <a:solidFill>
              <a:srgbClr val="2A71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7680960" y="2788920"/>
            <a:ext cx="457200" cy="0"/>
          </a:xfrm>
          <a:prstGeom prst="line">
            <a:avLst/>
          </a:prstGeom>
          <a:ln w="25400">
            <a:solidFill>
              <a:srgbClr val="2A71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914400" y="4389120"/>
            <a:ext cx="10149840" cy="32004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  <a:defRPr sz="1800" b="1" i="0">
                <a:solidFill>
                  <a:srgbClr val="0C1C34"/>
                </a:solidFill>
                <a:latin typeface="Aptos"/>
              </a:defRPr>
            </a:pPr>
            <a:r>
              <a:t>Evidence to show in the demo</a:t>
            </a:r>
          </a:p>
        </p:txBody>
      </p:sp>
      <p:sp>
        <p:nvSpPr>
          <p:cNvPr id="21" name="Oval 20"/>
          <p:cNvSpPr/>
          <p:nvPr/>
        </p:nvSpPr>
        <p:spPr>
          <a:xfrm>
            <a:off x="914400" y="4901184"/>
            <a:ext cx="109728" cy="109728"/>
          </a:xfrm>
          <a:prstGeom prst="ellipse">
            <a:avLst/>
          </a:prstGeom>
          <a:solidFill>
            <a:srgbClr val="30BE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1133856" y="4800600"/>
            <a:ext cx="9930384" cy="316992"/>
          </a:xfrm>
          <a:prstGeom prst="rect">
            <a:avLst/>
          </a:prstGeom>
          <a:noFill/>
        </p:spPr>
        <p:txBody>
          <a:bodyPr wrap="square" lIns="9144" tIns="9144" rIns="9144" bIns="9144" anchor="t">
            <a:spAutoFit/>
          </a:bodyPr>
          <a:lstStyle/>
          <a:p>
            <a:pPr algn="l">
              <a:spcAft>
                <a:spcPts val="0"/>
              </a:spcAft>
              <a:defRPr sz="1400" b="0" i="0">
                <a:solidFill>
                  <a:srgbClr val="223142"/>
                </a:solidFill>
                <a:latin typeface="Aptos"/>
              </a:defRPr>
            </a:pPr>
            <a:r>
              <a:t>Backend metrics endpoint returns valid output.</a:t>
            </a:r>
          </a:p>
        </p:txBody>
      </p:sp>
      <p:sp>
        <p:nvSpPr>
          <p:cNvPr id="23" name="Oval 22"/>
          <p:cNvSpPr/>
          <p:nvPr/>
        </p:nvSpPr>
        <p:spPr>
          <a:xfrm>
            <a:off x="914400" y="5236464"/>
            <a:ext cx="109728" cy="109728"/>
          </a:xfrm>
          <a:prstGeom prst="ellipse">
            <a:avLst/>
          </a:prstGeom>
          <a:solidFill>
            <a:srgbClr val="30BE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1133856" y="5135880"/>
            <a:ext cx="9930384" cy="316992"/>
          </a:xfrm>
          <a:prstGeom prst="rect">
            <a:avLst/>
          </a:prstGeom>
          <a:noFill/>
        </p:spPr>
        <p:txBody>
          <a:bodyPr wrap="square" lIns="9144" tIns="9144" rIns="9144" bIns="9144" anchor="t">
            <a:spAutoFit/>
          </a:bodyPr>
          <a:lstStyle/>
          <a:p>
            <a:pPr algn="l">
              <a:spcAft>
                <a:spcPts val="0"/>
              </a:spcAft>
              <a:defRPr sz="1400" b="0" i="0">
                <a:solidFill>
                  <a:srgbClr val="223142"/>
                </a:solidFill>
                <a:latin typeface="Aptos"/>
              </a:defRPr>
            </a:pPr>
            <a:r>
              <a:t>Prometheus target is UP and scraping the application.</a:t>
            </a:r>
          </a:p>
        </p:txBody>
      </p:sp>
      <p:sp>
        <p:nvSpPr>
          <p:cNvPr id="25" name="Oval 24"/>
          <p:cNvSpPr/>
          <p:nvPr/>
        </p:nvSpPr>
        <p:spPr>
          <a:xfrm>
            <a:off x="914400" y="5571744"/>
            <a:ext cx="109728" cy="109728"/>
          </a:xfrm>
          <a:prstGeom prst="ellipse">
            <a:avLst/>
          </a:prstGeom>
          <a:solidFill>
            <a:srgbClr val="30BE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1133856" y="5471160"/>
            <a:ext cx="9930384" cy="316992"/>
          </a:xfrm>
          <a:prstGeom prst="rect">
            <a:avLst/>
          </a:prstGeom>
          <a:noFill/>
        </p:spPr>
        <p:txBody>
          <a:bodyPr wrap="square" lIns="9144" tIns="9144" rIns="9144" bIns="9144" anchor="t">
            <a:spAutoFit/>
          </a:bodyPr>
          <a:lstStyle/>
          <a:p>
            <a:pPr algn="l">
              <a:spcAft>
                <a:spcPts val="0"/>
              </a:spcAft>
              <a:defRPr sz="1400" b="0" i="0">
                <a:solidFill>
                  <a:srgbClr val="223142"/>
                </a:solidFill>
                <a:latin typeface="Aptos"/>
              </a:defRPr>
            </a:pPr>
            <a:r>
              <a:t>Grafana contains at least one populated panel with live or recently collected data.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EF5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20040"/>
            <a:ext cx="10972800" cy="5029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  <a:defRPr sz="2700" b="1" i="0">
                <a:solidFill>
                  <a:srgbClr val="0C1C34"/>
                </a:solidFill>
                <a:latin typeface="Aptos"/>
              </a:defRPr>
            </a:pPr>
            <a:r>
              <a:t>Live demo / recording plan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868680"/>
            <a:ext cx="10881360" cy="34747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  <a:defRPr sz="1200" b="0" i="0">
                <a:solidFill>
                  <a:srgbClr val="607385"/>
                </a:solidFill>
                <a:latin typeface="Aptos"/>
              </a:defRPr>
            </a:pPr>
            <a:r>
              <a:t>A clear sequence makes the system easy to evaluate</a:t>
            </a:r>
          </a:p>
        </p:txBody>
      </p:sp>
      <p:sp>
        <p:nvSpPr>
          <p:cNvPr id="4" name="Rectangle 3"/>
          <p:cNvSpPr/>
          <p:nvPr/>
        </p:nvSpPr>
        <p:spPr>
          <a:xfrm>
            <a:off x="621792" y="1298448"/>
            <a:ext cx="713232" cy="50292"/>
          </a:xfrm>
          <a:prstGeom prst="rect">
            <a:avLst/>
          </a:prstGeom>
          <a:solidFill>
            <a:srgbClr val="30BECD"/>
          </a:solidFill>
          <a:ln>
            <a:solidFill>
              <a:srgbClr val="30BE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1201400" y="6510528"/>
            <a:ext cx="411480" cy="16459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r">
              <a:spcAft>
                <a:spcPts val="0"/>
              </a:spcAft>
              <a:defRPr sz="900" b="0" i="0">
                <a:solidFill>
                  <a:srgbClr val="607385"/>
                </a:solidFill>
                <a:latin typeface="Aptos"/>
              </a:defRPr>
            </a:pPr>
            <a:r>
              <a:t>15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" y="1600200"/>
            <a:ext cx="5166360" cy="105156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D7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005840" y="1783080"/>
            <a:ext cx="548640" cy="2743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  <a:defRPr sz="1700" b="1" i="0">
                <a:solidFill>
                  <a:srgbClr val="30BECD"/>
                </a:solidFill>
                <a:latin typeface="Aptos"/>
              </a:defRPr>
            </a:pPr>
            <a: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691640" y="1746504"/>
            <a:ext cx="3931920" cy="25603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  <a:defRPr sz="1500" b="1" i="0">
                <a:solidFill>
                  <a:srgbClr val="0C1C34"/>
                </a:solidFill>
                <a:latin typeface="Aptos"/>
              </a:defRPr>
            </a:pPr>
            <a:r>
              <a:t>Application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91640" y="2084832"/>
            <a:ext cx="3977639" cy="43891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  <a:defRPr sz="1100" b="0" i="0">
                <a:solidFill>
                  <a:srgbClr val="607385"/>
                </a:solidFill>
                <a:latin typeface="Aptos"/>
              </a:defRPr>
            </a:pPr>
            <a:r>
              <a:t>Open dashboard; show sample tickets and KPIs.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46520" y="1600200"/>
            <a:ext cx="5166360" cy="105156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D7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629400" y="1783080"/>
            <a:ext cx="548640" cy="2743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  <a:defRPr sz="1700" b="1" i="0">
                <a:solidFill>
                  <a:srgbClr val="30BECD"/>
                </a:solidFill>
                <a:latin typeface="Aptos"/>
              </a:defRPr>
            </a:pPr>
            <a:r>
              <a:t>02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0" y="1746504"/>
            <a:ext cx="3931920" cy="25603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  <a:defRPr sz="1500" b="1" i="0">
                <a:solidFill>
                  <a:srgbClr val="0C1C34"/>
                </a:solidFill>
                <a:latin typeface="Aptos"/>
              </a:defRPr>
            </a:pPr>
            <a:r>
              <a:t>CRUD workflow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0" y="2084832"/>
            <a:ext cx="3977639" cy="43891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  <a:defRPr sz="1100" b="0" i="0">
                <a:solidFill>
                  <a:srgbClr val="607385"/>
                </a:solidFill>
                <a:latin typeface="Aptos"/>
              </a:defRPr>
            </a:pPr>
            <a:r>
              <a:t>Create a ticket and update its status.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22960" y="2926080"/>
            <a:ext cx="5166360" cy="105156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D7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1005840" y="3108960"/>
            <a:ext cx="548640" cy="2743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  <a:defRPr sz="1700" b="1" i="0">
                <a:solidFill>
                  <a:srgbClr val="30BECD"/>
                </a:solidFill>
                <a:latin typeface="Aptos"/>
              </a:defRPr>
            </a:pPr>
            <a:r>
              <a:t>03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691640" y="3127248"/>
            <a:ext cx="3931920" cy="25603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  <a:defRPr sz="1500" b="1" i="0">
                <a:solidFill>
                  <a:srgbClr val="0C1C34"/>
                </a:solidFill>
                <a:latin typeface="Aptos"/>
              </a:defRPr>
            </a:pPr>
            <a:r>
              <a:t>API + data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691640" y="3410712"/>
            <a:ext cx="3977639" cy="43891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  <a:defRPr sz="1100" b="0" i="0">
                <a:solidFill>
                  <a:srgbClr val="607385"/>
                </a:solidFill>
                <a:latin typeface="Aptos"/>
              </a:defRPr>
            </a:pPr>
            <a:r>
              <a:t>Open Swagger, health/readiness endpoints and show persistence.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446520" y="2926080"/>
            <a:ext cx="5166360" cy="105156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D7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6629400" y="3108960"/>
            <a:ext cx="548640" cy="2743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  <a:defRPr sz="1700" b="1" i="0">
                <a:solidFill>
                  <a:srgbClr val="30BECD"/>
                </a:solidFill>
                <a:latin typeface="Aptos"/>
              </a:defRPr>
            </a:pPr>
            <a:r>
              <a:t>04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315200" y="3072384"/>
            <a:ext cx="3931920" cy="25603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  <a:defRPr sz="1500" b="1" i="0">
                <a:solidFill>
                  <a:srgbClr val="0C1C34"/>
                </a:solidFill>
                <a:latin typeface="Aptos"/>
              </a:defRPr>
            </a:pPr>
            <a:r>
              <a:t>Quality + containers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315200" y="3410712"/>
            <a:ext cx="3977639" cy="43891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  <a:defRPr sz="1100" b="0" i="0">
                <a:solidFill>
                  <a:srgbClr val="607385"/>
                </a:solidFill>
                <a:latin typeface="Aptos"/>
              </a:defRPr>
            </a:pPr>
            <a:r>
              <a:t>Show passing tests and Docker Compose services.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22960" y="4251960"/>
            <a:ext cx="5166360" cy="105156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D7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1005840" y="4434840"/>
            <a:ext cx="548640" cy="2743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  <a:defRPr sz="1700" b="1" i="0">
                <a:solidFill>
                  <a:srgbClr val="30BECD"/>
                </a:solidFill>
                <a:latin typeface="Aptos"/>
              </a:defRPr>
            </a:pPr>
            <a:r>
              <a:t>05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691640" y="4398264"/>
            <a:ext cx="3931920" cy="25603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  <a:defRPr sz="1500" b="1" i="0">
                <a:solidFill>
                  <a:srgbClr val="0C1C34"/>
                </a:solidFill>
                <a:latin typeface="Aptos"/>
              </a:defRPr>
            </a:pPr>
            <a:r>
              <a:t>CI/CD + cloud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691640" y="4736592"/>
            <a:ext cx="3977639" cy="43891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  <a:defRPr sz="1100" b="0" i="0">
                <a:solidFill>
                  <a:srgbClr val="607385"/>
                </a:solidFill>
                <a:latin typeface="Aptos"/>
              </a:defRPr>
            </a:pPr>
            <a:r>
              <a:rPr dirty="0"/>
              <a:t>Show Actions, GHCR, Terraform and Kubernetes where successfully deployed.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446520" y="4251960"/>
            <a:ext cx="5166360" cy="105156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D7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6629400" y="4434840"/>
            <a:ext cx="548640" cy="2743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  <a:defRPr sz="1700" b="1" i="0">
                <a:solidFill>
                  <a:srgbClr val="30BECD"/>
                </a:solidFill>
                <a:latin typeface="Aptos"/>
              </a:defRPr>
            </a:pPr>
            <a:r>
              <a:t>06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315200" y="4398264"/>
            <a:ext cx="3931920" cy="25603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  <a:defRPr sz="1500" b="1" i="0">
                <a:solidFill>
                  <a:srgbClr val="0C1C34"/>
                </a:solidFill>
                <a:latin typeface="Aptos"/>
              </a:defRPr>
            </a:pPr>
            <a:r>
              <a:t>Monitoring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315200" y="4736592"/>
            <a:ext cx="3977639" cy="43891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  <a:defRPr sz="1100" b="0" i="0">
                <a:solidFill>
                  <a:srgbClr val="607385"/>
                </a:solidFill>
                <a:latin typeface="Aptos"/>
              </a:defRPr>
            </a:pPr>
            <a:r>
              <a:t>Show Prometheus target and Grafana panel.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EF5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20040"/>
            <a:ext cx="10972800" cy="5029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  <a:defRPr sz="2700" b="1" i="0">
                <a:solidFill>
                  <a:srgbClr val="0C1C34"/>
                </a:solidFill>
                <a:latin typeface="Aptos"/>
              </a:defRPr>
            </a:pPr>
            <a:r>
              <a:t>How the project maps to the rubric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868680"/>
            <a:ext cx="10881360" cy="34747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  <a:defRPr sz="1200" b="0" i="0">
                <a:solidFill>
                  <a:srgbClr val="607385"/>
                </a:solidFill>
                <a:latin typeface="Aptos"/>
              </a:defRPr>
            </a:pPr>
            <a:r>
              <a:t>The presentation covers the ten grading modules in the supplied capstone rubric</a:t>
            </a:r>
          </a:p>
        </p:txBody>
      </p:sp>
      <p:sp>
        <p:nvSpPr>
          <p:cNvPr id="4" name="Rectangle 3"/>
          <p:cNvSpPr/>
          <p:nvPr/>
        </p:nvSpPr>
        <p:spPr>
          <a:xfrm>
            <a:off x="621792" y="1298448"/>
            <a:ext cx="713232" cy="50292"/>
          </a:xfrm>
          <a:prstGeom prst="rect">
            <a:avLst/>
          </a:prstGeom>
          <a:solidFill>
            <a:srgbClr val="30BECD"/>
          </a:solidFill>
          <a:ln>
            <a:solidFill>
              <a:srgbClr val="30BE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1201400" y="6510528"/>
            <a:ext cx="411480" cy="16459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r">
              <a:spcAft>
                <a:spcPts val="0"/>
              </a:spcAft>
              <a:defRPr sz="900" b="0" i="0">
                <a:solidFill>
                  <a:srgbClr val="607385"/>
                </a:solidFill>
                <a:latin typeface="Aptos"/>
              </a:defRPr>
            </a:pPr>
            <a:r>
              <a:t>16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" y="1536192"/>
            <a:ext cx="4983480" cy="621792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D7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005840" y="1700784"/>
            <a:ext cx="3794760" cy="25603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  <a:defRPr sz="1400" b="1" i="0">
                <a:solidFill>
                  <a:srgbClr val="0C1C34"/>
                </a:solidFill>
                <a:latin typeface="Aptos"/>
              </a:defRPr>
            </a:pPr>
            <a:r>
              <a:t>Application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983480" y="1691639"/>
            <a:ext cx="502920" cy="25603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r">
              <a:spcAft>
                <a:spcPts val="0"/>
              </a:spcAft>
              <a:defRPr sz="1500" b="1" i="0">
                <a:solidFill>
                  <a:srgbClr val="2A71BE"/>
                </a:solidFill>
                <a:latin typeface="Aptos"/>
              </a:defRPr>
            </a:pPr>
            <a:r>
              <a:t>10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309360" y="1536192"/>
            <a:ext cx="4983480" cy="621792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D7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492240" y="1700784"/>
            <a:ext cx="3794760" cy="25603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  <a:defRPr sz="1400" b="1" i="0">
                <a:solidFill>
                  <a:srgbClr val="0C1C34"/>
                </a:solidFill>
                <a:latin typeface="Aptos"/>
              </a:defRPr>
            </a:pPr>
            <a:r>
              <a:t>Testing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469880" y="1691639"/>
            <a:ext cx="502920" cy="25603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r">
              <a:spcAft>
                <a:spcPts val="0"/>
              </a:spcAft>
              <a:defRPr sz="1500" b="1" i="0">
                <a:solidFill>
                  <a:srgbClr val="2A71BE"/>
                </a:solidFill>
                <a:latin typeface="Aptos"/>
              </a:defRPr>
            </a:pPr>
            <a:r>
              <a:t>10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22960" y="2368296"/>
            <a:ext cx="4983480" cy="621792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D7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1005840" y="2532888"/>
            <a:ext cx="3794760" cy="25603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  <a:defRPr sz="1400" b="1" i="0">
                <a:solidFill>
                  <a:srgbClr val="0C1C34"/>
                </a:solidFill>
                <a:latin typeface="Aptos"/>
              </a:defRPr>
            </a:pPr>
            <a:r>
              <a:t>Git &amp; GitHub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983480" y="2523744"/>
            <a:ext cx="502920" cy="25603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r">
              <a:spcAft>
                <a:spcPts val="0"/>
              </a:spcAft>
              <a:defRPr sz="1500" b="1" i="0">
                <a:solidFill>
                  <a:srgbClr val="2A71BE"/>
                </a:solidFill>
                <a:latin typeface="Aptos"/>
              </a:defRPr>
            </a:pPr>
            <a:r>
              <a:t>5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309360" y="2368296"/>
            <a:ext cx="4983480" cy="621792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D7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492240" y="2532888"/>
            <a:ext cx="3794760" cy="25603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  <a:defRPr sz="1400" b="1" i="0">
                <a:solidFill>
                  <a:srgbClr val="0C1C34"/>
                </a:solidFill>
                <a:latin typeface="Aptos"/>
              </a:defRPr>
            </a:pPr>
            <a:r>
              <a:t>Docker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469880" y="2523744"/>
            <a:ext cx="502920" cy="25603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r">
              <a:spcAft>
                <a:spcPts val="0"/>
              </a:spcAft>
              <a:defRPr sz="1500" b="1" i="0">
                <a:solidFill>
                  <a:srgbClr val="2A71BE"/>
                </a:solidFill>
                <a:latin typeface="Aptos"/>
              </a:defRPr>
            </a:pPr>
            <a:r>
              <a:t>10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22960" y="3200400"/>
            <a:ext cx="4983480" cy="621792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D7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1005840" y="3364992"/>
            <a:ext cx="3794760" cy="25603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  <a:defRPr sz="1400" b="1" i="0">
                <a:solidFill>
                  <a:srgbClr val="0C1C34"/>
                </a:solidFill>
                <a:latin typeface="Aptos"/>
              </a:defRPr>
            </a:pPr>
            <a:r>
              <a:t>CI/CD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983480" y="3355848"/>
            <a:ext cx="502920" cy="25603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r">
              <a:spcAft>
                <a:spcPts val="0"/>
              </a:spcAft>
              <a:defRPr sz="1500" b="1" i="0">
                <a:solidFill>
                  <a:srgbClr val="2A71BE"/>
                </a:solidFill>
                <a:latin typeface="Aptos"/>
              </a:defRPr>
            </a:pPr>
            <a:r>
              <a:t>15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309360" y="3200400"/>
            <a:ext cx="4983480" cy="621792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D7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6492240" y="3364992"/>
            <a:ext cx="3794760" cy="25603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  <a:defRPr sz="1400" b="1" i="0">
                <a:solidFill>
                  <a:srgbClr val="0C1C34"/>
                </a:solidFill>
                <a:latin typeface="Aptos"/>
              </a:defRPr>
            </a:pPr>
            <a:r>
              <a:t>DevSecOps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469880" y="3355848"/>
            <a:ext cx="502920" cy="25603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r">
              <a:spcAft>
                <a:spcPts val="0"/>
              </a:spcAft>
              <a:defRPr sz="1500" b="1" i="0">
                <a:solidFill>
                  <a:srgbClr val="2A71BE"/>
                </a:solidFill>
                <a:latin typeface="Aptos"/>
              </a:defRPr>
            </a:pPr>
            <a:r>
              <a:t>5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22960" y="4032504"/>
            <a:ext cx="4983480" cy="621792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D7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1005840" y="4197096"/>
            <a:ext cx="3794760" cy="25603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  <a:defRPr sz="1400" b="1" i="0">
                <a:solidFill>
                  <a:srgbClr val="0C1C34"/>
                </a:solidFill>
                <a:latin typeface="Aptos"/>
              </a:defRPr>
            </a:pPr>
            <a:r>
              <a:t>Terraform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983480" y="4187952"/>
            <a:ext cx="502920" cy="25603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r">
              <a:spcAft>
                <a:spcPts val="0"/>
              </a:spcAft>
              <a:defRPr sz="1500" b="1" i="0">
                <a:solidFill>
                  <a:srgbClr val="2A71BE"/>
                </a:solidFill>
                <a:latin typeface="Aptos"/>
              </a:defRPr>
            </a:pPr>
            <a:r>
              <a:t>15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309360" y="4032504"/>
            <a:ext cx="4983480" cy="621792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D7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6492240" y="4197096"/>
            <a:ext cx="3794760" cy="25603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  <a:defRPr sz="1400" b="1" i="0">
                <a:solidFill>
                  <a:srgbClr val="0C1C34"/>
                </a:solidFill>
                <a:latin typeface="Aptos"/>
              </a:defRPr>
            </a:pPr>
            <a:r>
              <a:t>Kubernetes + Helm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469880" y="4187952"/>
            <a:ext cx="502920" cy="25603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r">
              <a:spcAft>
                <a:spcPts val="0"/>
              </a:spcAft>
              <a:defRPr sz="1500" b="1" i="0">
                <a:solidFill>
                  <a:srgbClr val="2A71BE"/>
                </a:solidFill>
                <a:latin typeface="Aptos"/>
              </a:defRPr>
            </a:pPr>
            <a:r>
              <a:t>15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822960" y="4864608"/>
            <a:ext cx="4983480" cy="621792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D7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1005840" y="5029200"/>
            <a:ext cx="3794760" cy="25603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  <a:defRPr sz="1400" b="1" i="0">
                <a:solidFill>
                  <a:srgbClr val="0C1C34"/>
                </a:solidFill>
                <a:latin typeface="Aptos"/>
              </a:defRPr>
            </a:pPr>
            <a:r>
              <a:t>Observability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983480" y="5020056"/>
            <a:ext cx="502920" cy="25603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r">
              <a:spcAft>
                <a:spcPts val="0"/>
              </a:spcAft>
              <a:defRPr sz="1500" b="1" i="0">
                <a:solidFill>
                  <a:srgbClr val="2A71BE"/>
                </a:solidFill>
                <a:latin typeface="Aptos"/>
              </a:defRPr>
            </a:pPr>
            <a:r>
              <a:t>10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6309360" y="4864608"/>
            <a:ext cx="4983480" cy="621792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D7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6492240" y="5029200"/>
            <a:ext cx="3794760" cy="25603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  <a:defRPr sz="1400" b="1" i="0">
                <a:solidFill>
                  <a:srgbClr val="0C1C34"/>
                </a:solidFill>
                <a:latin typeface="Aptos"/>
              </a:defRPr>
            </a:pPr>
            <a:r>
              <a:t>Presentation + documentation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469880" y="5020056"/>
            <a:ext cx="502920" cy="25603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r">
              <a:spcAft>
                <a:spcPts val="0"/>
              </a:spcAft>
              <a:defRPr sz="1500" b="1" i="0">
                <a:solidFill>
                  <a:srgbClr val="2A71BE"/>
                </a:solidFill>
                <a:latin typeface="Aptos"/>
              </a:defRPr>
            </a:pPr>
            <a:r>
              <a:t>5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14400" y="5897880"/>
            <a:ext cx="9784080" cy="32004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  <a:defRPr sz="1600" b="1" i="0">
                <a:solidFill>
                  <a:srgbClr val="0C1C34"/>
                </a:solidFill>
                <a:latin typeface="Aptos"/>
              </a:defRPr>
            </a:pPr>
            <a:r>
              <a:t>Total: 100 points  •  Evidence must come from actual test runs, CI runs and cloud resources.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C1C3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20040"/>
            <a:ext cx="10972800" cy="5029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  <a:defRPr sz="2700" b="1" i="0">
                <a:solidFill>
                  <a:srgbClr val="FFFFFF"/>
                </a:solidFill>
                <a:latin typeface="Aptos"/>
              </a:defRPr>
            </a:pPr>
            <a:r>
              <a:t>Conclusion and next steps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868680"/>
            <a:ext cx="10881360" cy="34747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  <a:defRPr sz="1200" b="0" i="0">
                <a:solidFill>
                  <a:srgbClr val="C2D3E4"/>
                </a:solidFill>
                <a:latin typeface="Aptos"/>
              </a:defRPr>
            </a:pPr>
            <a:r>
              <a:t>A successful capstone is not only code; it is a repeatable, demonstrable delivery process</a:t>
            </a:r>
          </a:p>
        </p:txBody>
      </p:sp>
      <p:sp>
        <p:nvSpPr>
          <p:cNvPr id="4" name="Rectangle 3"/>
          <p:cNvSpPr/>
          <p:nvPr/>
        </p:nvSpPr>
        <p:spPr>
          <a:xfrm>
            <a:off x="621792" y="1298448"/>
            <a:ext cx="713232" cy="50292"/>
          </a:xfrm>
          <a:prstGeom prst="rect">
            <a:avLst/>
          </a:prstGeom>
          <a:solidFill>
            <a:srgbClr val="30BECD"/>
          </a:solidFill>
          <a:ln>
            <a:solidFill>
              <a:srgbClr val="30BE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1201400" y="6510528"/>
            <a:ext cx="411480" cy="16459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r">
              <a:spcAft>
                <a:spcPts val="0"/>
              </a:spcAft>
              <a:defRPr sz="900" b="0" i="0">
                <a:solidFill>
                  <a:srgbClr val="C2D3E4"/>
                </a:solidFill>
                <a:latin typeface="Aptos"/>
              </a:defRPr>
            </a:pPr>
            <a:r>
              <a:t>17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77240" y="1691640"/>
            <a:ext cx="3383280" cy="1874519"/>
          </a:xfrm>
          <a:prstGeom prst="roundRect">
            <a:avLst>
              <a:gd name="adj" fmla="val 12000"/>
            </a:avLst>
          </a:prstGeom>
          <a:solidFill>
            <a:srgbClr val="142B49"/>
          </a:solidFill>
          <a:ln>
            <a:solidFill>
              <a:srgbClr val="142B4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777240" y="1691640"/>
            <a:ext cx="64008" cy="1874519"/>
          </a:xfrm>
          <a:prstGeom prst="rect">
            <a:avLst/>
          </a:prstGeom>
          <a:solidFill>
            <a:srgbClr val="30BECD"/>
          </a:solidFill>
          <a:ln>
            <a:solidFill>
              <a:srgbClr val="30BE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978408" y="1856232"/>
            <a:ext cx="3035808" cy="329184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  <a:defRPr sz="1700" b="1" i="0">
                <a:solidFill>
                  <a:srgbClr val="FFFFFF"/>
                </a:solidFill>
                <a:latin typeface="Aptos"/>
              </a:defRPr>
            </a:pPr>
            <a:r>
              <a:t>Run locally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78408" y="2286000"/>
            <a:ext cx="3017520" cy="1179575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  <a:defRPr sz="1300" b="0" i="0">
                <a:solidFill>
                  <a:srgbClr val="CBDAE7"/>
                </a:solidFill>
                <a:latin typeface="Aptos"/>
              </a:defRPr>
            </a:pPr>
            <a:r>
              <a:t>Start Compose, seed demo tickets and verify the UI and API.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89120" y="1691640"/>
            <a:ext cx="3383280" cy="1874519"/>
          </a:xfrm>
          <a:prstGeom prst="roundRect">
            <a:avLst>
              <a:gd name="adj" fmla="val 12000"/>
            </a:avLst>
          </a:prstGeom>
          <a:solidFill>
            <a:srgbClr val="142B49"/>
          </a:solidFill>
          <a:ln>
            <a:solidFill>
              <a:srgbClr val="142B4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4389120" y="1691640"/>
            <a:ext cx="64008" cy="1874519"/>
          </a:xfrm>
          <a:prstGeom prst="rect">
            <a:avLst/>
          </a:prstGeom>
          <a:solidFill>
            <a:srgbClr val="2A9B73"/>
          </a:solidFill>
          <a:ln>
            <a:solidFill>
              <a:srgbClr val="2A9B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590288" y="1856232"/>
            <a:ext cx="3035808" cy="329184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  <a:defRPr sz="1700" b="1" i="0">
                <a:solidFill>
                  <a:srgbClr val="FFFFFF"/>
                </a:solidFill>
                <a:latin typeface="Aptos"/>
              </a:defRPr>
            </a:pPr>
            <a:r>
              <a:t>Prove quality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90288" y="2286000"/>
            <a:ext cx="3017520" cy="1179575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  <a:defRPr sz="1300" b="0" i="0">
                <a:solidFill>
                  <a:srgbClr val="CBDAE7"/>
                </a:solidFill>
                <a:latin typeface="Aptos"/>
              </a:defRPr>
            </a:pPr>
            <a:r>
              <a:t>Run tests and capture passing output; inspect the CI workflow.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01000" y="1691640"/>
            <a:ext cx="3383280" cy="1874519"/>
          </a:xfrm>
          <a:prstGeom prst="roundRect">
            <a:avLst>
              <a:gd name="adj" fmla="val 12000"/>
            </a:avLst>
          </a:prstGeom>
          <a:solidFill>
            <a:srgbClr val="142B49"/>
          </a:solidFill>
          <a:ln>
            <a:solidFill>
              <a:srgbClr val="142B4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8001000" y="1691640"/>
            <a:ext cx="64008" cy="1874519"/>
          </a:xfrm>
          <a:prstGeom prst="rect">
            <a:avLst/>
          </a:prstGeom>
          <a:solidFill>
            <a:srgbClr val="E19B31"/>
          </a:solidFill>
          <a:ln>
            <a:solidFill>
              <a:srgbClr val="E19B3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8202168" y="1856232"/>
            <a:ext cx="3035808" cy="329184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  <a:defRPr sz="1700" b="1" i="0">
                <a:solidFill>
                  <a:srgbClr val="FFFFFF"/>
                </a:solidFill>
                <a:latin typeface="Aptos"/>
              </a:defRPr>
            </a:pPr>
            <a:r>
              <a:t>Demonstrate operations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02168" y="2286000"/>
            <a:ext cx="3017520" cy="1179575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  <a:defRPr sz="1300" b="0" i="0">
                <a:solidFill>
                  <a:srgbClr val="CBDAE7"/>
                </a:solidFill>
                <a:latin typeface="Aptos"/>
              </a:defRPr>
            </a:pPr>
            <a:r>
              <a:t>Verify cloud deployment, autoscaling and monitoring before claiming them.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4400" y="4251960"/>
            <a:ext cx="10241280" cy="5029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>
              <a:spcAft>
                <a:spcPts val="0"/>
              </a:spcAft>
              <a:defRPr sz="3200" b="1" i="0">
                <a:solidFill>
                  <a:srgbClr val="FFFFFF"/>
                </a:solidFill>
                <a:latin typeface="Aptos"/>
              </a:defRPr>
            </a:pPr>
            <a:r>
              <a:t>Thank you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4400" y="4892040"/>
            <a:ext cx="10241280" cy="41148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>
              <a:spcAft>
                <a:spcPts val="0"/>
              </a:spcAft>
              <a:defRPr sz="1900" b="0" i="0">
                <a:solidFill>
                  <a:srgbClr val="30BECD"/>
                </a:solidFill>
                <a:latin typeface="Aptos"/>
              </a:defRPr>
            </a:pPr>
            <a:r>
              <a:t>Questions?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2960" y="6263640"/>
            <a:ext cx="10332720" cy="20116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>
              <a:spcAft>
                <a:spcPts val="0"/>
              </a:spcAft>
              <a:defRPr sz="1000" b="0" i="0">
                <a:solidFill>
                  <a:srgbClr val="ADC3D7"/>
                </a:solidFill>
                <a:latin typeface="Aptos"/>
              </a:defRPr>
            </a:pPr>
            <a:r>
              <a:t>ResolveHub • DevOps Final Capstone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21</TotalTime>
  <Words>1335</Words>
  <Application>Microsoft Office PowerPoint</Application>
  <PresentationFormat>Widescreen</PresentationFormat>
  <Paragraphs>266</Paragraphs>
  <Slides>17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0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ResolveHub DevOps Final Capstone</dc:title>
  <dc:subject>Full-stack support ticket application and DevOps lifecycle</dc:subject>
  <dc:creator>ResolveHub Project Team</dc:creator>
  <cp:keywords>ResolveHub, FastAPI, React, Docker, CI/CD, Terraform, Kubernetes, Prometheus, Grafana</cp:keywords>
  <dc:description>generated using python-pptx</dc:description>
  <cp:lastModifiedBy>J HARISH REDDY</cp:lastModifiedBy>
  <cp:revision>2</cp:revision>
  <dcterms:created xsi:type="dcterms:W3CDTF">2013-01-27T09:14:16Z</dcterms:created>
  <dcterms:modified xsi:type="dcterms:W3CDTF">2026-10-27T07:54:47Z</dcterms:modified>
  <cp:category/>
</cp:coreProperties>
</file>